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Montserrat Bold" charset="1" panose="00000800000000000000"/>
      <p:regular r:id="rId19"/>
    </p:embeddedFont>
    <p:embeddedFont>
      <p:font typeface="Inter" charset="1" panose="02000503000000020004"/>
      <p:regular r:id="rId20"/>
    </p:embeddedFont>
    <p:embeddedFont>
      <p:font typeface="Inter Italics" charset="1" panose="02000503000000020004"/>
      <p:regular r:id="rId21"/>
    </p:embeddedFont>
    <p:embeddedFont>
      <p:font typeface="Inter Bold" charset="1" panose="020005030000000200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9.png" Type="http://schemas.openxmlformats.org/officeDocument/2006/relationships/image"/><Relationship Id="rId8"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30.png" Type="http://schemas.openxmlformats.org/officeDocument/2006/relationships/image"/><Relationship Id="rId5" Target="../media/image31.pn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 Id="rId7" Target="../media/image4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png" Type="http://schemas.openxmlformats.org/officeDocument/2006/relationships/image"/><Relationship Id="rId4" Target="../media/image4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 Id="rId4" Target="../media/image48.png" Type="http://schemas.openxmlformats.org/officeDocument/2006/relationships/image"/><Relationship Id="rId5" Target="../media/image49.png" Type="http://schemas.openxmlformats.org/officeDocument/2006/relationships/image"/><Relationship Id="rId6" Target="../media/image50.png" Type="http://schemas.openxmlformats.org/officeDocument/2006/relationships/image"/><Relationship Id="rId7" Target="../media/image5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 Id="rId3" Target="../media/image53.svg" Type="http://schemas.openxmlformats.org/officeDocument/2006/relationships/image"/><Relationship Id="rId4" Target="../media/image54.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 Id="rId6" Target="../media/image59.png" Type="http://schemas.openxmlformats.org/officeDocument/2006/relationships/image"/><Relationship Id="rId7" Target="../media/image55.png" Type="http://schemas.openxmlformats.org/officeDocument/2006/relationships/image"/><Relationship Id="rId8" Target="../media/image5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10079112" y="3722675"/>
            <a:ext cx="7548398" cy="4849846"/>
          </a:xfrm>
          <a:custGeom>
            <a:avLst/>
            <a:gdLst/>
            <a:ahLst/>
            <a:cxnLst/>
            <a:rect r="r" b="b" t="t" l="l"/>
            <a:pathLst>
              <a:path h="4849846" w="7548398">
                <a:moveTo>
                  <a:pt x="0" y="0"/>
                </a:moveTo>
                <a:lnTo>
                  <a:pt x="7548398" y="0"/>
                </a:lnTo>
                <a:lnTo>
                  <a:pt x="7548398" y="4849845"/>
                </a:lnTo>
                <a:lnTo>
                  <a:pt x="0" y="4849845"/>
                </a:lnTo>
                <a:lnTo>
                  <a:pt x="0" y="0"/>
                </a:lnTo>
                <a:close/>
              </a:path>
            </a:pathLst>
          </a:custGeom>
          <a:blipFill>
            <a:blip r:embed="rId2"/>
            <a:stretch>
              <a:fillRect l="0" t="0" r="0" b="0"/>
            </a:stretch>
          </a:blipFill>
        </p:spPr>
      </p:sp>
      <p:sp>
        <p:nvSpPr>
          <p:cNvPr name="Freeform 3" id="3"/>
          <p:cNvSpPr/>
          <p:nvPr/>
        </p:nvSpPr>
        <p:spPr>
          <a:xfrm flipH="false" flipV="false" rot="0">
            <a:off x="1028700" y="1028700"/>
            <a:ext cx="597073" cy="557133"/>
          </a:xfrm>
          <a:custGeom>
            <a:avLst/>
            <a:gdLst/>
            <a:ahLst/>
            <a:cxnLst/>
            <a:rect r="r" b="b" t="t" l="l"/>
            <a:pathLst>
              <a:path h="557133" w="597073">
                <a:moveTo>
                  <a:pt x="0" y="0"/>
                </a:moveTo>
                <a:lnTo>
                  <a:pt x="597073" y="0"/>
                </a:lnTo>
                <a:lnTo>
                  <a:pt x="597073" y="557133"/>
                </a:lnTo>
                <a:lnTo>
                  <a:pt x="0" y="55713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638929" y="1225068"/>
            <a:ext cx="1672852" cy="3055437"/>
          </a:xfrm>
          <a:custGeom>
            <a:avLst/>
            <a:gdLst/>
            <a:ahLst/>
            <a:cxnLst/>
            <a:rect r="r" b="b" t="t" l="l"/>
            <a:pathLst>
              <a:path h="3055437" w="1672852">
                <a:moveTo>
                  <a:pt x="0" y="0"/>
                </a:moveTo>
                <a:lnTo>
                  <a:pt x="1672852" y="0"/>
                </a:lnTo>
                <a:lnTo>
                  <a:pt x="1672852" y="3055436"/>
                </a:lnTo>
                <a:lnTo>
                  <a:pt x="0" y="3055436"/>
                </a:lnTo>
                <a:lnTo>
                  <a:pt x="0" y="0"/>
                </a:lnTo>
                <a:close/>
              </a:path>
            </a:pathLst>
          </a:custGeom>
          <a:blipFill>
            <a:blip r:embed="rId5"/>
            <a:stretch>
              <a:fillRect l="0" t="0" r="0" b="0"/>
            </a:stretch>
          </a:blipFill>
        </p:spPr>
      </p:sp>
      <p:sp>
        <p:nvSpPr>
          <p:cNvPr name="TextBox 5" id="5"/>
          <p:cNvSpPr txBox="true"/>
          <p:nvPr/>
        </p:nvSpPr>
        <p:spPr>
          <a:xfrm rot="0">
            <a:off x="1028700" y="2901043"/>
            <a:ext cx="8312264" cy="1367830"/>
          </a:xfrm>
          <a:prstGeom prst="rect">
            <a:avLst/>
          </a:prstGeom>
        </p:spPr>
        <p:txBody>
          <a:bodyPr anchor="t" rtlCol="false" tIns="0" lIns="0" bIns="0" rIns="0">
            <a:spAutoFit/>
          </a:bodyPr>
          <a:lstStyle/>
          <a:p>
            <a:pPr algn="l" marL="0" indent="0" lvl="0">
              <a:lnSpc>
                <a:spcPts val="11232"/>
              </a:lnSpc>
            </a:pPr>
            <a:r>
              <a:rPr lang="en-US" b="true" sz="8023">
                <a:solidFill>
                  <a:srgbClr val="1F1F1F"/>
                </a:solidFill>
                <a:latin typeface="Montserrat Bold"/>
                <a:ea typeface="Montserrat Bold"/>
                <a:cs typeface="Montserrat Bold"/>
                <a:sym typeface="Montserrat Bold"/>
              </a:rPr>
              <a:t>Human Activity</a:t>
            </a:r>
          </a:p>
        </p:txBody>
      </p:sp>
      <p:sp>
        <p:nvSpPr>
          <p:cNvPr name="TextBox 6" id="6"/>
          <p:cNvSpPr txBox="true"/>
          <p:nvPr/>
        </p:nvSpPr>
        <p:spPr>
          <a:xfrm rot="0">
            <a:off x="1028700" y="4478708"/>
            <a:ext cx="9389750" cy="1367830"/>
          </a:xfrm>
          <a:prstGeom prst="rect">
            <a:avLst/>
          </a:prstGeom>
        </p:spPr>
        <p:txBody>
          <a:bodyPr anchor="t" rtlCol="false" tIns="0" lIns="0" bIns="0" rIns="0">
            <a:spAutoFit/>
          </a:bodyPr>
          <a:lstStyle/>
          <a:p>
            <a:pPr algn="l" marL="0" indent="0" lvl="0">
              <a:lnSpc>
                <a:spcPts val="11232"/>
              </a:lnSpc>
            </a:pPr>
            <a:r>
              <a:rPr lang="en-US" b="true" sz="8023">
                <a:solidFill>
                  <a:srgbClr val="10B981"/>
                </a:solidFill>
                <a:latin typeface="Montserrat Bold"/>
                <a:ea typeface="Montserrat Bold"/>
                <a:cs typeface="Montserrat Bold"/>
                <a:sym typeface="Montserrat Bold"/>
              </a:rPr>
              <a:t>Recognition</a:t>
            </a:r>
          </a:p>
        </p:txBody>
      </p:sp>
      <p:sp>
        <p:nvSpPr>
          <p:cNvPr name="TextBox 7" id="7"/>
          <p:cNvSpPr txBox="true"/>
          <p:nvPr/>
        </p:nvSpPr>
        <p:spPr>
          <a:xfrm rot="0">
            <a:off x="1822537" y="1091366"/>
            <a:ext cx="3901038" cy="412795"/>
          </a:xfrm>
          <a:prstGeom prst="rect">
            <a:avLst/>
          </a:prstGeom>
        </p:spPr>
        <p:txBody>
          <a:bodyPr anchor="t" rtlCol="false" tIns="0" lIns="0" bIns="0" rIns="0">
            <a:spAutoFit/>
          </a:bodyPr>
          <a:lstStyle/>
          <a:p>
            <a:pPr algn="l" marL="0" indent="0" lvl="0">
              <a:lnSpc>
                <a:spcPts val="3497"/>
              </a:lnSpc>
              <a:spcBef>
                <a:spcPct val="0"/>
              </a:spcBef>
            </a:pPr>
            <a:r>
              <a:rPr lang="en-US" sz="2498">
                <a:solidFill>
                  <a:srgbClr val="6B7280"/>
                </a:solidFill>
                <a:latin typeface="Inter"/>
                <a:ea typeface="Inter"/>
                <a:cs typeface="Inter"/>
                <a:sym typeface="Inter"/>
              </a:rPr>
              <a:t>Using Deep Learning</a:t>
            </a:r>
          </a:p>
        </p:txBody>
      </p:sp>
      <p:sp>
        <p:nvSpPr>
          <p:cNvPr name="TextBox 8" id="8"/>
          <p:cNvSpPr txBox="true"/>
          <p:nvPr/>
        </p:nvSpPr>
        <p:spPr>
          <a:xfrm rot="0">
            <a:off x="1028700" y="6820807"/>
            <a:ext cx="7359449" cy="412795"/>
          </a:xfrm>
          <a:prstGeom prst="rect">
            <a:avLst/>
          </a:prstGeom>
        </p:spPr>
        <p:txBody>
          <a:bodyPr anchor="t" rtlCol="false" tIns="0" lIns="0" bIns="0" rIns="0">
            <a:spAutoFit/>
          </a:bodyPr>
          <a:lstStyle/>
          <a:p>
            <a:pPr algn="l" marL="0" indent="0" lvl="0">
              <a:lnSpc>
                <a:spcPts val="3497"/>
              </a:lnSpc>
              <a:spcBef>
                <a:spcPct val="0"/>
              </a:spcBef>
            </a:pPr>
            <a:r>
              <a:rPr lang="en-US" sz="2498" i="true">
                <a:solidFill>
                  <a:srgbClr val="6B7280"/>
                </a:solidFill>
                <a:latin typeface="Inter Italics"/>
                <a:ea typeface="Inter Italics"/>
                <a:cs typeface="Inter Italics"/>
                <a:sym typeface="Inter Italics"/>
              </a:rPr>
              <a:t>Student Name | Course Name | Date</a:t>
            </a:r>
          </a:p>
        </p:txBody>
      </p:sp>
      <p:sp>
        <p:nvSpPr>
          <p:cNvPr name="TextBox 9" id="9"/>
          <p:cNvSpPr txBox="true"/>
          <p:nvPr/>
        </p:nvSpPr>
        <p:spPr>
          <a:xfrm rot="0">
            <a:off x="1028700" y="8836972"/>
            <a:ext cx="2183515" cy="412795"/>
          </a:xfrm>
          <a:prstGeom prst="rect">
            <a:avLst/>
          </a:prstGeom>
        </p:spPr>
        <p:txBody>
          <a:bodyPr anchor="t" rtlCol="false" tIns="0" lIns="0" bIns="0" rIns="0">
            <a:spAutoFit/>
          </a:bodyPr>
          <a:lstStyle/>
          <a:p>
            <a:pPr algn="l" marL="0" indent="0" lvl="0">
              <a:lnSpc>
                <a:spcPts val="3497"/>
              </a:lnSpc>
              <a:spcBef>
                <a:spcPct val="0"/>
              </a:spcBef>
            </a:pPr>
            <a:r>
              <a:rPr lang="en-US" sz="2498" i="true">
                <a:solidFill>
                  <a:srgbClr val="6B7280"/>
                </a:solidFill>
                <a:latin typeface="Inter Italics"/>
                <a:ea typeface="Inter Italics"/>
                <a:cs typeface="Inter Italics"/>
                <a:sym typeface="Inter Italics"/>
              </a:rPr>
              <a:t>Presented by:</a:t>
            </a:r>
          </a:p>
        </p:txBody>
      </p:sp>
      <p:sp>
        <p:nvSpPr>
          <p:cNvPr name="TextBox 10" id="10"/>
          <p:cNvSpPr txBox="true"/>
          <p:nvPr/>
        </p:nvSpPr>
        <p:spPr>
          <a:xfrm rot="0">
            <a:off x="3128531" y="8845550"/>
            <a:ext cx="2595044" cy="412795"/>
          </a:xfrm>
          <a:prstGeom prst="rect">
            <a:avLst/>
          </a:prstGeom>
        </p:spPr>
        <p:txBody>
          <a:bodyPr anchor="t" rtlCol="false" tIns="0" lIns="0" bIns="0" rIns="0">
            <a:spAutoFit/>
          </a:bodyPr>
          <a:lstStyle/>
          <a:p>
            <a:pPr algn="l" marL="0" indent="0" lvl="0">
              <a:lnSpc>
                <a:spcPts val="3497"/>
              </a:lnSpc>
              <a:spcBef>
                <a:spcPct val="0"/>
              </a:spcBef>
            </a:pPr>
            <a:r>
              <a:rPr lang="en-US" b="true" sz="2498">
                <a:solidFill>
                  <a:srgbClr val="6B7280"/>
                </a:solidFill>
                <a:latin typeface="Inter Bold"/>
                <a:ea typeface="Inter Bold"/>
                <a:cs typeface="Inter Bold"/>
                <a:sym typeface="Inter Bold"/>
              </a:rPr>
              <a:t>Student Name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8237525" y="5341624"/>
            <a:ext cx="8950467" cy="3916676"/>
            <a:chOff x="0" y="0"/>
            <a:chExt cx="2357325" cy="1031552"/>
          </a:xfrm>
        </p:grpSpPr>
        <p:sp>
          <p:nvSpPr>
            <p:cNvPr name="Freeform 3" id="3"/>
            <p:cNvSpPr/>
            <p:nvPr/>
          </p:nvSpPr>
          <p:spPr>
            <a:xfrm flipH="false" flipV="false" rot="0">
              <a:off x="0" y="0"/>
              <a:ext cx="2357325" cy="1031552"/>
            </a:xfrm>
            <a:custGeom>
              <a:avLst/>
              <a:gdLst/>
              <a:ahLst/>
              <a:cxnLst/>
              <a:rect r="r" b="b" t="t" l="l"/>
              <a:pathLst>
                <a:path h="1031552" w="2357325">
                  <a:moveTo>
                    <a:pt x="31139" y="0"/>
                  </a:moveTo>
                  <a:lnTo>
                    <a:pt x="2326186" y="0"/>
                  </a:lnTo>
                  <a:cubicBezTo>
                    <a:pt x="2334444" y="0"/>
                    <a:pt x="2342365" y="3281"/>
                    <a:pt x="2348204" y="9120"/>
                  </a:cubicBezTo>
                  <a:cubicBezTo>
                    <a:pt x="2354044" y="14960"/>
                    <a:pt x="2357325" y="22880"/>
                    <a:pt x="2357325" y="31139"/>
                  </a:cubicBezTo>
                  <a:lnTo>
                    <a:pt x="2357325" y="1000413"/>
                  </a:lnTo>
                  <a:cubicBezTo>
                    <a:pt x="2357325" y="1008672"/>
                    <a:pt x="2354044" y="1016592"/>
                    <a:pt x="2348204" y="1022432"/>
                  </a:cubicBezTo>
                  <a:cubicBezTo>
                    <a:pt x="2342365" y="1028272"/>
                    <a:pt x="2334444" y="1031552"/>
                    <a:pt x="2326186" y="1031552"/>
                  </a:cubicBezTo>
                  <a:lnTo>
                    <a:pt x="31139" y="1031552"/>
                  </a:lnTo>
                  <a:cubicBezTo>
                    <a:pt x="22880" y="1031552"/>
                    <a:pt x="14960" y="1028272"/>
                    <a:pt x="9120" y="1022432"/>
                  </a:cubicBezTo>
                  <a:cubicBezTo>
                    <a:pt x="3281" y="1016592"/>
                    <a:pt x="0" y="1008672"/>
                    <a:pt x="0" y="1000413"/>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1069652"/>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299453" y="4256030"/>
            <a:ext cx="8023419" cy="4493115"/>
          </a:xfrm>
          <a:custGeom>
            <a:avLst/>
            <a:gdLst/>
            <a:ahLst/>
            <a:cxnLst/>
            <a:rect r="r" b="b" t="t" l="l"/>
            <a:pathLst>
              <a:path h="4493115" w="8023419">
                <a:moveTo>
                  <a:pt x="0" y="0"/>
                </a:moveTo>
                <a:lnTo>
                  <a:pt x="8023419" y="0"/>
                </a:lnTo>
                <a:lnTo>
                  <a:pt x="8023419" y="4493115"/>
                </a:lnTo>
                <a:lnTo>
                  <a:pt x="0" y="4493115"/>
                </a:lnTo>
                <a:lnTo>
                  <a:pt x="0" y="0"/>
                </a:lnTo>
                <a:close/>
              </a:path>
            </a:pathLst>
          </a:custGeom>
          <a:blipFill>
            <a:blip r:embed="rId2"/>
            <a:stretch>
              <a:fillRect l="0" t="0" r="0" b="0"/>
            </a:stretch>
          </a:blipFill>
        </p:spPr>
      </p:sp>
      <p:sp>
        <p:nvSpPr>
          <p:cNvPr name="Freeform 6" id="6"/>
          <p:cNvSpPr/>
          <p:nvPr/>
        </p:nvSpPr>
        <p:spPr>
          <a:xfrm flipH="false" flipV="false" rot="0">
            <a:off x="0" y="0"/>
            <a:ext cx="2546351" cy="2546351"/>
          </a:xfrm>
          <a:custGeom>
            <a:avLst/>
            <a:gdLst/>
            <a:ahLst/>
            <a:cxnLst/>
            <a:rect r="r" b="b" t="t" l="l"/>
            <a:pathLst>
              <a:path h="2546351" w="2546351">
                <a:moveTo>
                  <a:pt x="0" y="0"/>
                </a:moveTo>
                <a:lnTo>
                  <a:pt x="2546351" y="0"/>
                </a:lnTo>
                <a:lnTo>
                  <a:pt x="2546351" y="2546351"/>
                </a:lnTo>
                <a:lnTo>
                  <a:pt x="0" y="25463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8237525" y="847725"/>
            <a:ext cx="8312264" cy="1698805"/>
          </a:xfrm>
          <a:prstGeom prst="rect">
            <a:avLst/>
          </a:prstGeom>
        </p:spPr>
        <p:txBody>
          <a:bodyPr anchor="t" rtlCol="false" tIns="0" lIns="0" bIns="0" rIns="0">
            <a:spAutoFit/>
          </a:bodyPr>
          <a:lstStyle/>
          <a:p>
            <a:pPr algn="l" marL="0" indent="0" lvl="0">
              <a:lnSpc>
                <a:spcPts val="13990"/>
              </a:lnSpc>
            </a:pPr>
            <a:r>
              <a:rPr lang="en-US" b="true" sz="9992">
                <a:solidFill>
                  <a:srgbClr val="1F1F1F"/>
                </a:solidFill>
                <a:latin typeface="Montserrat Bold"/>
                <a:ea typeface="Montserrat Bold"/>
                <a:cs typeface="Montserrat Bold"/>
                <a:sym typeface="Montserrat Bold"/>
              </a:rPr>
              <a:t>Project</a:t>
            </a:r>
          </a:p>
        </p:txBody>
      </p:sp>
      <p:sp>
        <p:nvSpPr>
          <p:cNvPr name="TextBox 8" id="8"/>
          <p:cNvSpPr txBox="true"/>
          <p:nvPr/>
        </p:nvSpPr>
        <p:spPr>
          <a:xfrm rot="0">
            <a:off x="8619884" y="2013010"/>
            <a:ext cx="7929906" cy="1698805"/>
          </a:xfrm>
          <a:prstGeom prst="rect">
            <a:avLst/>
          </a:prstGeom>
        </p:spPr>
        <p:txBody>
          <a:bodyPr anchor="t" rtlCol="false" tIns="0" lIns="0" bIns="0" rIns="0">
            <a:spAutoFit/>
          </a:bodyPr>
          <a:lstStyle/>
          <a:p>
            <a:pPr algn="l" marL="0" indent="0" lvl="0">
              <a:lnSpc>
                <a:spcPts val="13990"/>
              </a:lnSpc>
            </a:pPr>
            <a:r>
              <a:rPr lang="en-US" b="true" sz="9992">
                <a:solidFill>
                  <a:srgbClr val="10B981"/>
                </a:solidFill>
                <a:latin typeface="Montserrat Bold"/>
                <a:ea typeface="Montserrat Bold"/>
                <a:cs typeface="Montserrat Bold"/>
                <a:sym typeface="Montserrat Bold"/>
              </a:rPr>
              <a:t>Motivation</a:t>
            </a:r>
          </a:p>
        </p:txBody>
      </p:sp>
      <p:sp>
        <p:nvSpPr>
          <p:cNvPr name="TextBox 9" id="9"/>
          <p:cNvSpPr txBox="true"/>
          <p:nvPr/>
        </p:nvSpPr>
        <p:spPr>
          <a:xfrm rot="0">
            <a:off x="9043863" y="5979162"/>
            <a:ext cx="7359449" cy="2212801"/>
          </a:xfrm>
          <a:prstGeom prst="rect">
            <a:avLst/>
          </a:prstGeom>
        </p:spPr>
        <p:txBody>
          <a:bodyPr anchor="t" rtlCol="false" tIns="0" lIns="0" bIns="0" rIns="0">
            <a:spAutoFit/>
          </a:bodyPr>
          <a:lstStyle/>
          <a:p>
            <a:pPr algn="l" marL="0" indent="0" lvl="0">
              <a:lnSpc>
                <a:spcPts val="2984"/>
              </a:lnSpc>
              <a:spcBef>
                <a:spcPct val="0"/>
              </a:spcBef>
            </a:pPr>
            <a:r>
              <a:rPr lang="en-US" sz="2131">
                <a:solidFill>
                  <a:srgbClr val="6B7280"/>
                </a:solidFill>
                <a:latin typeface="Inter"/>
                <a:ea typeface="Inter"/>
                <a:cs typeface="Inter"/>
                <a:sym typeface="Inter"/>
              </a:rPr>
              <a:t>Human Activity Recognition (HAR) is transforming wearable AI technology. Key healthcare applications include rehabilitation monitoring, elderly fall detection, and chronic disease management. HAR enables continuous patient tracking, personalized therapy adjustments, and early intervention for at-risk populations.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11947402" y="1578816"/>
            <a:ext cx="5311898" cy="7679484"/>
            <a:chOff x="0" y="0"/>
            <a:chExt cx="1399019" cy="2022580"/>
          </a:xfrm>
        </p:grpSpPr>
        <p:sp>
          <p:nvSpPr>
            <p:cNvPr name="Freeform 3" id="3"/>
            <p:cNvSpPr/>
            <p:nvPr/>
          </p:nvSpPr>
          <p:spPr>
            <a:xfrm flipH="false" flipV="false" rot="0">
              <a:off x="0" y="0"/>
              <a:ext cx="1399018" cy="2022580"/>
            </a:xfrm>
            <a:custGeom>
              <a:avLst/>
              <a:gdLst/>
              <a:ahLst/>
              <a:cxnLst/>
              <a:rect r="r" b="b" t="t" l="l"/>
              <a:pathLst>
                <a:path h="2022580" w="1399018">
                  <a:moveTo>
                    <a:pt x="52469" y="0"/>
                  </a:moveTo>
                  <a:lnTo>
                    <a:pt x="1346550" y="0"/>
                  </a:lnTo>
                  <a:cubicBezTo>
                    <a:pt x="1360465" y="0"/>
                    <a:pt x="1373811" y="5528"/>
                    <a:pt x="1383651" y="15368"/>
                  </a:cubicBezTo>
                  <a:cubicBezTo>
                    <a:pt x="1393491" y="25208"/>
                    <a:pt x="1399018" y="38553"/>
                    <a:pt x="1399018" y="52469"/>
                  </a:cubicBezTo>
                  <a:lnTo>
                    <a:pt x="1399018" y="1970111"/>
                  </a:lnTo>
                  <a:cubicBezTo>
                    <a:pt x="1399018" y="1984027"/>
                    <a:pt x="1393491" y="1997372"/>
                    <a:pt x="1383651" y="2007212"/>
                  </a:cubicBezTo>
                  <a:cubicBezTo>
                    <a:pt x="1373811" y="2017052"/>
                    <a:pt x="1360465" y="2022580"/>
                    <a:pt x="1346550" y="2022580"/>
                  </a:cubicBezTo>
                  <a:lnTo>
                    <a:pt x="52469" y="2022580"/>
                  </a:lnTo>
                  <a:cubicBezTo>
                    <a:pt x="38553" y="2022580"/>
                    <a:pt x="25208" y="2017052"/>
                    <a:pt x="15368" y="2007212"/>
                  </a:cubicBezTo>
                  <a:cubicBezTo>
                    <a:pt x="5528" y="1997372"/>
                    <a:pt x="0" y="1984027"/>
                    <a:pt x="0" y="1970111"/>
                  </a:cubicBezTo>
                  <a:lnTo>
                    <a:pt x="0" y="52469"/>
                  </a:lnTo>
                  <a:cubicBezTo>
                    <a:pt x="0" y="38553"/>
                    <a:pt x="5528" y="25208"/>
                    <a:pt x="15368" y="15368"/>
                  </a:cubicBezTo>
                  <a:cubicBezTo>
                    <a:pt x="25208" y="5528"/>
                    <a:pt x="38553" y="0"/>
                    <a:pt x="52469" y="0"/>
                  </a:cubicBezTo>
                  <a:close/>
                </a:path>
              </a:pathLst>
            </a:custGeom>
            <a:solidFill>
              <a:srgbClr val="D1FAE5"/>
            </a:solidFill>
          </p:spPr>
        </p:sp>
        <p:sp>
          <p:nvSpPr>
            <p:cNvPr name="TextBox 4" id="4"/>
            <p:cNvSpPr txBox="true"/>
            <p:nvPr/>
          </p:nvSpPr>
          <p:spPr>
            <a:xfrm>
              <a:off x="0" y="-38100"/>
              <a:ext cx="1399019" cy="2060680"/>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0608470" y="2117904"/>
            <a:ext cx="842148" cy="1006790"/>
          </a:xfrm>
          <a:custGeom>
            <a:avLst/>
            <a:gdLst/>
            <a:ahLst/>
            <a:cxnLst/>
            <a:rect r="r" b="b" t="t" l="l"/>
            <a:pathLst>
              <a:path h="1006790" w="842148">
                <a:moveTo>
                  <a:pt x="0" y="0"/>
                </a:moveTo>
                <a:lnTo>
                  <a:pt x="842149" y="0"/>
                </a:lnTo>
                <a:lnTo>
                  <a:pt x="842149" y="1006790"/>
                </a:lnTo>
                <a:lnTo>
                  <a:pt x="0" y="1006790"/>
                </a:lnTo>
                <a:lnTo>
                  <a:pt x="0" y="0"/>
                </a:lnTo>
                <a:close/>
              </a:path>
            </a:pathLst>
          </a:custGeom>
          <a:blipFill>
            <a:blip r:embed="rId2"/>
            <a:stretch>
              <a:fillRect l="0" t="0" r="0" b="0"/>
            </a:stretch>
          </a:blipFill>
        </p:spPr>
      </p:sp>
      <p:sp>
        <p:nvSpPr>
          <p:cNvPr name="Freeform 6" id="6"/>
          <p:cNvSpPr/>
          <p:nvPr/>
        </p:nvSpPr>
        <p:spPr>
          <a:xfrm flipH="false" flipV="false" rot="0">
            <a:off x="10652394" y="3793021"/>
            <a:ext cx="945006" cy="1543822"/>
          </a:xfrm>
          <a:custGeom>
            <a:avLst/>
            <a:gdLst/>
            <a:ahLst/>
            <a:cxnLst/>
            <a:rect r="r" b="b" t="t" l="l"/>
            <a:pathLst>
              <a:path h="1543822" w="945006">
                <a:moveTo>
                  <a:pt x="0" y="0"/>
                </a:moveTo>
                <a:lnTo>
                  <a:pt x="945006" y="0"/>
                </a:lnTo>
                <a:lnTo>
                  <a:pt x="945006" y="1543822"/>
                </a:lnTo>
                <a:lnTo>
                  <a:pt x="0" y="1543822"/>
                </a:lnTo>
                <a:lnTo>
                  <a:pt x="0" y="0"/>
                </a:lnTo>
                <a:close/>
              </a:path>
            </a:pathLst>
          </a:custGeom>
          <a:blipFill>
            <a:blip r:embed="rId3"/>
            <a:stretch>
              <a:fillRect l="0" t="0" r="0" b="0"/>
            </a:stretch>
          </a:blipFill>
        </p:spPr>
      </p:sp>
      <p:sp>
        <p:nvSpPr>
          <p:cNvPr name="Freeform 7" id="7"/>
          <p:cNvSpPr/>
          <p:nvPr/>
        </p:nvSpPr>
        <p:spPr>
          <a:xfrm flipH="false" flipV="false" rot="0">
            <a:off x="10795323" y="5943184"/>
            <a:ext cx="842361" cy="886696"/>
          </a:xfrm>
          <a:custGeom>
            <a:avLst/>
            <a:gdLst/>
            <a:ahLst/>
            <a:cxnLst/>
            <a:rect r="r" b="b" t="t" l="l"/>
            <a:pathLst>
              <a:path h="886696" w="842361">
                <a:moveTo>
                  <a:pt x="0" y="0"/>
                </a:moveTo>
                <a:lnTo>
                  <a:pt x="842361" y="0"/>
                </a:lnTo>
                <a:lnTo>
                  <a:pt x="842361" y="886696"/>
                </a:lnTo>
                <a:lnTo>
                  <a:pt x="0" y="886696"/>
                </a:lnTo>
                <a:lnTo>
                  <a:pt x="0" y="0"/>
                </a:lnTo>
                <a:close/>
              </a:path>
            </a:pathLst>
          </a:custGeom>
          <a:blipFill>
            <a:blip r:embed="rId4"/>
            <a:stretch>
              <a:fillRect l="0" t="0" r="0" b="0"/>
            </a:stretch>
          </a:blipFill>
        </p:spPr>
      </p:sp>
      <p:sp>
        <p:nvSpPr>
          <p:cNvPr name="Freeform 8" id="8"/>
          <p:cNvSpPr/>
          <p:nvPr/>
        </p:nvSpPr>
        <p:spPr>
          <a:xfrm flipH="false" flipV="false" rot="0">
            <a:off x="10672645" y="7764778"/>
            <a:ext cx="836984" cy="979725"/>
          </a:xfrm>
          <a:custGeom>
            <a:avLst/>
            <a:gdLst/>
            <a:ahLst/>
            <a:cxnLst/>
            <a:rect r="r" b="b" t="t" l="l"/>
            <a:pathLst>
              <a:path h="979725" w="836984">
                <a:moveTo>
                  <a:pt x="0" y="0"/>
                </a:moveTo>
                <a:lnTo>
                  <a:pt x="836984" y="0"/>
                </a:lnTo>
                <a:lnTo>
                  <a:pt x="836984" y="979725"/>
                </a:lnTo>
                <a:lnTo>
                  <a:pt x="0" y="979725"/>
                </a:lnTo>
                <a:lnTo>
                  <a:pt x="0" y="0"/>
                </a:lnTo>
                <a:close/>
              </a:path>
            </a:pathLst>
          </a:custGeom>
          <a:blipFill>
            <a:blip r:embed="rId5"/>
            <a:stretch>
              <a:fillRect l="0" t="0" r="0" b="0"/>
            </a:stretch>
          </a:blipFill>
        </p:spPr>
      </p:sp>
      <p:sp>
        <p:nvSpPr>
          <p:cNvPr name="Freeform 9" id="9"/>
          <p:cNvSpPr/>
          <p:nvPr/>
        </p:nvSpPr>
        <p:spPr>
          <a:xfrm flipH="false" flipV="false" rot="0">
            <a:off x="1283282" y="5270014"/>
            <a:ext cx="3859210" cy="3898192"/>
          </a:xfrm>
          <a:custGeom>
            <a:avLst/>
            <a:gdLst/>
            <a:ahLst/>
            <a:cxnLst/>
            <a:rect r="r" b="b" t="t" l="l"/>
            <a:pathLst>
              <a:path h="3898192" w="3859210">
                <a:moveTo>
                  <a:pt x="0" y="0"/>
                </a:moveTo>
                <a:lnTo>
                  <a:pt x="3859209" y="0"/>
                </a:lnTo>
                <a:lnTo>
                  <a:pt x="3859209" y="3898192"/>
                </a:lnTo>
                <a:lnTo>
                  <a:pt x="0" y="3898192"/>
                </a:lnTo>
                <a:lnTo>
                  <a:pt x="0" y="0"/>
                </a:lnTo>
                <a:close/>
              </a:path>
            </a:pathLst>
          </a:custGeom>
          <a:blipFill>
            <a:blip r:embed="rId6"/>
            <a:stretch>
              <a:fillRect l="0" t="0" r="0" b="0"/>
            </a:stretch>
          </a:blipFill>
        </p:spPr>
      </p:sp>
      <p:sp>
        <p:nvSpPr>
          <p:cNvPr name="TextBox 10" id="10"/>
          <p:cNvSpPr txBox="true"/>
          <p:nvPr/>
        </p:nvSpPr>
        <p:spPr>
          <a:xfrm rot="0">
            <a:off x="1028700" y="847725"/>
            <a:ext cx="8312264" cy="1698805"/>
          </a:xfrm>
          <a:prstGeom prst="rect">
            <a:avLst/>
          </a:prstGeom>
        </p:spPr>
        <p:txBody>
          <a:bodyPr anchor="t" rtlCol="false" tIns="0" lIns="0" bIns="0" rIns="0">
            <a:spAutoFit/>
          </a:bodyPr>
          <a:lstStyle/>
          <a:p>
            <a:pPr algn="l" marL="0" indent="0" lvl="0">
              <a:lnSpc>
                <a:spcPts val="13990"/>
              </a:lnSpc>
            </a:pPr>
            <a:r>
              <a:rPr lang="en-US" b="true" sz="9992">
                <a:solidFill>
                  <a:srgbClr val="1F1F1F"/>
                </a:solidFill>
                <a:latin typeface="Montserrat Bold"/>
                <a:ea typeface="Montserrat Bold"/>
                <a:cs typeface="Montserrat Bold"/>
                <a:sym typeface="Montserrat Bold"/>
              </a:rPr>
              <a:t>Dataset</a:t>
            </a:r>
          </a:p>
        </p:txBody>
      </p:sp>
      <p:sp>
        <p:nvSpPr>
          <p:cNvPr name="TextBox 11" id="11"/>
          <p:cNvSpPr txBox="true"/>
          <p:nvPr/>
        </p:nvSpPr>
        <p:spPr>
          <a:xfrm rot="0">
            <a:off x="1411059" y="2013010"/>
            <a:ext cx="8492523" cy="1698805"/>
          </a:xfrm>
          <a:prstGeom prst="rect">
            <a:avLst/>
          </a:prstGeom>
        </p:spPr>
        <p:txBody>
          <a:bodyPr anchor="t" rtlCol="false" tIns="0" lIns="0" bIns="0" rIns="0">
            <a:spAutoFit/>
          </a:bodyPr>
          <a:lstStyle/>
          <a:p>
            <a:pPr algn="l" marL="0" indent="0" lvl="0">
              <a:lnSpc>
                <a:spcPts val="13990"/>
              </a:lnSpc>
            </a:pPr>
            <a:r>
              <a:rPr lang="en-US" b="true" sz="9992">
                <a:solidFill>
                  <a:srgbClr val="10B981"/>
                </a:solidFill>
                <a:latin typeface="Montserrat Bold"/>
                <a:ea typeface="Montserrat Bold"/>
                <a:cs typeface="Montserrat Bold"/>
                <a:sym typeface="Montserrat Bold"/>
              </a:rPr>
              <a:t>Overview</a:t>
            </a:r>
          </a:p>
        </p:txBody>
      </p:sp>
      <p:sp>
        <p:nvSpPr>
          <p:cNvPr name="TextBox 12" id="12"/>
          <p:cNvSpPr txBox="true"/>
          <p:nvPr/>
        </p:nvSpPr>
        <p:spPr>
          <a:xfrm rot="0">
            <a:off x="12376936" y="2029726"/>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UCI HAR Dataset</a:t>
            </a:r>
          </a:p>
        </p:txBody>
      </p:sp>
      <p:sp>
        <p:nvSpPr>
          <p:cNvPr name="TextBox 13" id="13"/>
          <p:cNvSpPr txBox="true"/>
          <p:nvPr/>
        </p:nvSpPr>
        <p:spPr>
          <a:xfrm rot="0">
            <a:off x="12376936" y="3799665"/>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Dual Sensors</a:t>
            </a:r>
          </a:p>
        </p:txBody>
      </p:sp>
      <p:sp>
        <p:nvSpPr>
          <p:cNvPr name="TextBox 14" id="14"/>
          <p:cNvSpPr txBox="true"/>
          <p:nvPr/>
        </p:nvSpPr>
        <p:spPr>
          <a:xfrm rot="0">
            <a:off x="12376936" y="5571316"/>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Six Activities</a:t>
            </a:r>
          </a:p>
        </p:txBody>
      </p:sp>
      <p:sp>
        <p:nvSpPr>
          <p:cNvPr name="TextBox 15" id="15"/>
          <p:cNvSpPr txBox="true"/>
          <p:nvPr/>
        </p:nvSpPr>
        <p:spPr>
          <a:xfrm rot="0">
            <a:off x="12376936" y="7342966"/>
            <a:ext cx="3733319" cy="412795"/>
          </a:xfrm>
          <a:prstGeom prst="rect">
            <a:avLst/>
          </a:prstGeom>
        </p:spPr>
        <p:txBody>
          <a:bodyPr anchor="t" rtlCol="false" tIns="0" lIns="0" bIns="0" rIns="0">
            <a:spAutoFit/>
          </a:bodyPr>
          <a:lstStyle/>
          <a:p>
            <a:pPr algn="just" marL="0" indent="0" lvl="0">
              <a:lnSpc>
                <a:spcPts val="3497"/>
              </a:lnSpc>
              <a:spcBef>
                <a:spcPct val="0"/>
              </a:spcBef>
            </a:pPr>
            <a:r>
              <a:rPr lang="en-US" b="true" sz="2498">
                <a:solidFill>
                  <a:srgbClr val="6B7280"/>
                </a:solidFill>
                <a:latin typeface="Inter Bold"/>
                <a:ea typeface="Inter Bold"/>
                <a:cs typeface="Inter Bold"/>
                <a:sym typeface="Inter Bold"/>
              </a:rPr>
              <a:t>Tensor Shape</a:t>
            </a:r>
          </a:p>
        </p:txBody>
      </p:sp>
      <p:sp>
        <p:nvSpPr>
          <p:cNvPr name="TextBox 16" id="16"/>
          <p:cNvSpPr txBox="true"/>
          <p:nvPr/>
        </p:nvSpPr>
        <p:spPr>
          <a:xfrm rot="0">
            <a:off x="12376936" y="2559952"/>
            <a:ext cx="4147352" cy="789255"/>
          </a:xfrm>
          <a:prstGeom prst="rect">
            <a:avLst/>
          </a:prstGeom>
        </p:spPr>
        <p:txBody>
          <a:bodyPr anchor="t" rtlCol="false" tIns="0" lIns="0" bIns="0" rIns="0">
            <a:spAutoFit/>
          </a:bodyPr>
          <a:lstStyle/>
          <a:p>
            <a:pPr algn="l" marL="0" indent="0" lvl="0">
              <a:lnSpc>
                <a:spcPts val="3222"/>
              </a:lnSpc>
              <a:spcBef>
                <a:spcPct val="0"/>
              </a:spcBef>
            </a:pPr>
            <a:r>
              <a:rPr lang="en-US" sz="2301">
                <a:solidFill>
                  <a:srgbClr val="6B7280"/>
                </a:solidFill>
                <a:latin typeface="Inter"/>
                <a:ea typeface="Inter"/>
                <a:cs typeface="Inter"/>
                <a:sym typeface="Inter"/>
              </a:rPr>
              <a:t>Benchmark dataset for human activity recognition research.</a:t>
            </a:r>
          </a:p>
        </p:txBody>
      </p:sp>
      <p:sp>
        <p:nvSpPr>
          <p:cNvPr name="TextBox 17" id="17"/>
          <p:cNvSpPr txBox="true"/>
          <p:nvPr/>
        </p:nvSpPr>
        <p:spPr>
          <a:xfrm rot="0">
            <a:off x="12376936" y="4329891"/>
            <a:ext cx="4147352" cy="789255"/>
          </a:xfrm>
          <a:prstGeom prst="rect">
            <a:avLst/>
          </a:prstGeom>
        </p:spPr>
        <p:txBody>
          <a:bodyPr anchor="t" rtlCol="false" tIns="0" lIns="0" bIns="0" rIns="0">
            <a:spAutoFit/>
          </a:bodyPr>
          <a:lstStyle/>
          <a:p>
            <a:pPr algn="l" marL="0" indent="0" lvl="0">
              <a:lnSpc>
                <a:spcPts val="3222"/>
              </a:lnSpc>
              <a:spcBef>
                <a:spcPct val="0"/>
              </a:spcBef>
            </a:pPr>
            <a:r>
              <a:rPr lang="en-US" sz="2301">
                <a:solidFill>
                  <a:srgbClr val="6B7280"/>
                </a:solidFill>
                <a:latin typeface="Inter"/>
                <a:ea typeface="Inter"/>
                <a:cs typeface="Inter"/>
                <a:sym typeface="Inter"/>
              </a:rPr>
              <a:t>Accelerometer and Gyroscope capture motion data.</a:t>
            </a:r>
          </a:p>
        </p:txBody>
      </p:sp>
      <p:sp>
        <p:nvSpPr>
          <p:cNvPr name="TextBox 18" id="18"/>
          <p:cNvSpPr txBox="true"/>
          <p:nvPr/>
        </p:nvSpPr>
        <p:spPr>
          <a:xfrm rot="0">
            <a:off x="12376936" y="6101541"/>
            <a:ext cx="4147352" cy="789255"/>
          </a:xfrm>
          <a:prstGeom prst="rect">
            <a:avLst/>
          </a:prstGeom>
        </p:spPr>
        <p:txBody>
          <a:bodyPr anchor="t" rtlCol="false" tIns="0" lIns="0" bIns="0" rIns="0">
            <a:spAutoFit/>
          </a:bodyPr>
          <a:lstStyle/>
          <a:p>
            <a:pPr algn="l" marL="0" indent="0" lvl="0">
              <a:lnSpc>
                <a:spcPts val="3222"/>
              </a:lnSpc>
              <a:spcBef>
                <a:spcPct val="0"/>
              </a:spcBef>
            </a:pPr>
            <a:r>
              <a:rPr lang="en-US" sz="2301">
                <a:solidFill>
                  <a:srgbClr val="6B7280"/>
                </a:solidFill>
                <a:latin typeface="Inter"/>
                <a:ea typeface="Inter"/>
                <a:cs typeface="Inter"/>
                <a:sym typeface="Inter"/>
              </a:rPr>
              <a:t>Walking, upstairs, downstairs, sitting, standing, laying.</a:t>
            </a:r>
          </a:p>
        </p:txBody>
      </p:sp>
      <p:sp>
        <p:nvSpPr>
          <p:cNvPr name="TextBox 19" id="19"/>
          <p:cNvSpPr txBox="true"/>
          <p:nvPr/>
        </p:nvSpPr>
        <p:spPr>
          <a:xfrm rot="0">
            <a:off x="12376936" y="7873191"/>
            <a:ext cx="4147352" cy="789255"/>
          </a:xfrm>
          <a:prstGeom prst="rect">
            <a:avLst/>
          </a:prstGeom>
        </p:spPr>
        <p:txBody>
          <a:bodyPr anchor="t" rtlCol="false" tIns="0" lIns="0" bIns="0" rIns="0">
            <a:spAutoFit/>
          </a:bodyPr>
          <a:lstStyle/>
          <a:p>
            <a:pPr algn="l" marL="0" indent="0" lvl="0">
              <a:lnSpc>
                <a:spcPts val="3222"/>
              </a:lnSpc>
              <a:spcBef>
                <a:spcPct val="0"/>
              </a:spcBef>
            </a:pPr>
            <a:r>
              <a:rPr lang="en-US" sz="2301">
                <a:solidFill>
                  <a:srgbClr val="6B7280"/>
                </a:solidFill>
                <a:latin typeface="Inter"/>
                <a:ea typeface="Inter"/>
                <a:cs typeface="Inter"/>
                <a:sym typeface="Inter"/>
              </a:rPr>
              <a:t>7352 samples × 128 timesteps × 9 channels.</a:t>
            </a:r>
          </a:p>
        </p:txBody>
      </p:sp>
      <p:sp>
        <p:nvSpPr>
          <p:cNvPr name="Freeform 20" id="20"/>
          <p:cNvSpPr/>
          <p:nvPr/>
        </p:nvSpPr>
        <p:spPr>
          <a:xfrm flipH="false" flipV="false" rot="0">
            <a:off x="5482326" y="5037525"/>
            <a:ext cx="3776383" cy="2950299"/>
          </a:xfrm>
          <a:custGeom>
            <a:avLst/>
            <a:gdLst/>
            <a:ahLst/>
            <a:cxnLst/>
            <a:rect r="r" b="b" t="t" l="l"/>
            <a:pathLst>
              <a:path h="2950299" w="3776383">
                <a:moveTo>
                  <a:pt x="0" y="0"/>
                </a:moveTo>
                <a:lnTo>
                  <a:pt x="3776383" y="0"/>
                </a:lnTo>
                <a:lnTo>
                  <a:pt x="3776383" y="2950299"/>
                </a:lnTo>
                <a:lnTo>
                  <a:pt x="0" y="2950299"/>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1028700" y="6178452"/>
            <a:ext cx="7882440" cy="3079848"/>
            <a:chOff x="0" y="0"/>
            <a:chExt cx="2076034" cy="811153"/>
          </a:xfrm>
        </p:grpSpPr>
        <p:sp>
          <p:nvSpPr>
            <p:cNvPr name="Freeform 3" id="3"/>
            <p:cNvSpPr/>
            <p:nvPr/>
          </p:nvSpPr>
          <p:spPr>
            <a:xfrm flipH="false" flipV="false" rot="0">
              <a:off x="0" y="0"/>
              <a:ext cx="2076034" cy="811153"/>
            </a:xfrm>
            <a:custGeom>
              <a:avLst/>
              <a:gdLst/>
              <a:ahLst/>
              <a:cxnLst/>
              <a:rect r="r" b="b" t="t" l="l"/>
              <a:pathLst>
                <a:path h="811153" w="2076034">
                  <a:moveTo>
                    <a:pt x="35358" y="0"/>
                  </a:moveTo>
                  <a:lnTo>
                    <a:pt x="2040675" y="0"/>
                  </a:lnTo>
                  <a:cubicBezTo>
                    <a:pt x="2060203" y="0"/>
                    <a:pt x="2076034" y="15830"/>
                    <a:pt x="2076034" y="35358"/>
                  </a:cubicBezTo>
                  <a:lnTo>
                    <a:pt x="2076034" y="775795"/>
                  </a:lnTo>
                  <a:cubicBezTo>
                    <a:pt x="2076034" y="795323"/>
                    <a:pt x="2060203" y="811153"/>
                    <a:pt x="2040675" y="811153"/>
                  </a:cubicBezTo>
                  <a:lnTo>
                    <a:pt x="35358" y="811153"/>
                  </a:lnTo>
                  <a:cubicBezTo>
                    <a:pt x="15830" y="811153"/>
                    <a:pt x="0" y="795323"/>
                    <a:pt x="0" y="775795"/>
                  </a:cubicBezTo>
                  <a:lnTo>
                    <a:pt x="0" y="35358"/>
                  </a:lnTo>
                  <a:cubicBezTo>
                    <a:pt x="0" y="15830"/>
                    <a:pt x="15830" y="0"/>
                    <a:pt x="35358" y="0"/>
                  </a:cubicBezTo>
                  <a:close/>
                </a:path>
              </a:pathLst>
            </a:custGeom>
            <a:solidFill>
              <a:srgbClr val="D1FAE5"/>
            </a:solidFill>
          </p:spPr>
        </p:sp>
        <p:sp>
          <p:nvSpPr>
            <p:cNvPr name="TextBox 4" id="4"/>
            <p:cNvSpPr txBox="true"/>
            <p:nvPr/>
          </p:nvSpPr>
          <p:spPr>
            <a:xfrm>
              <a:off x="0" y="-38100"/>
              <a:ext cx="2076034" cy="849253"/>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5068466" y="1028700"/>
            <a:ext cx="2190834" cy="1517651"/>
          </a:xfrm>
          <a:custGeom>
            <a:avLst/>
            <a:gdLst/>
            <a:ahLst/>
            <a:cxnLst/>
            <a:rect r="r" b="b" t="t" l="l"/>
            <a:pathLst>
              <a:path h="1517651" w="2190834">
                <a:moveTo>
                  <a:pt x="0" y="0"/>
                </a:moveTo>
                <a:lnTo>
                  <a:pt x="2190834" y="0"/>
                </a:lnTo>
                <a:lnTo>
                  <a:pt x="2190834" y="1517651"/>
                </a:lnTo>
                <a:lnTo>
                  <a:pt x="0" y="151765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27484" y="4287798"/>
            <a:ext cx="6636316" cy="5209508"/>
          </a:xfrm>
          <a:custGeom>
            <a:avLst/>
            <a:gdLst/>
            <a:ahLst/>
            <a:cxnLst/>
            <a:rect r="r" b="b" t="t" l="l"/>
            <a:pathLst>
              <a:path h="5209508" w="6636316">
                <a:moveTo>
                  <a:pt x="0" y="0"/>
                </a:moveTo>
                <a:lnTo>
                  <a:pt x="6636316" y="0"/>
                </a:lnTo>
                <a:lnTo>
                  <a:pt x="6636316" y="5209508"/>
                </a:lnTo>
                <a:lnTo>
                  <a:pt x="0" y="5209508"/>
                </a:lnTo>
                <a:lnTo>
                  <a:pt x="0" y="0"/>
                </a:lnTo>
                <a:close/>
              </a:path>
            </a:pathLst>
          </a:custGeom>
          <a:blipFill>
            <a:blip r:embed="rId4"/>
            <a:stretch>
              <a:fillRect l="0" t="0" r="0" b="0"/>
            </a:stretch>
          </a:blipFill>
        </p:spPr>
      </p:sp>
      <p:sp>
        <p:nvSpPr>
          <p:cNvPr name="Freeform 7" id="7"/>
          <p:cNvSpPr/>
          <p:nvPr/>
        </p:nvSpPr>
        <p:spPr>
          <a:xfrm flipH="false" flipV="false" rot="0">
            <a:off x="9958848" y="3176693"/>
            <a:ext cx="1604666" cy="1604666"/>
          </a:xfrm>
          <a:custGeom>
            <a:avLst/>
            <a:gdLst/>
            <a:ahLst/>
            <a:cxnLst/>
            <a:rect r="r" b="b" t="t" l="l"/>
            <a:pathLst>
              <a:path h="1604666" w="1604666">
                <a:moveTo>
                  <a:pt x="0" y="0"/>
                </a:moveTo>
                <a:lnTo>
                  <a:pt x="1604667" y="0"/>
                </a:lnTo>
                <a:lnTo>
                  <a:pt x="1604667" y="1604666"/>
                </a:lnTo>
                <a:lnTo>
                  <a:pt x="0" y="16046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0280984" y="3668207"/>
            <a:ext cx="960394" cy="621637"/>
          </a:xfrm>
          <a:custGeom>
            <a:avLst/>
            <a:gdLst/>
            <a:ahLst/>
            <a:cxnLst/>
            <a:rect r="r" b="b" t="t" l="l"/>
            <a:pathLst>
              <a:path h="621637" w="960394">
                <a:moveTo>
                  <a:pt x="0" y="0"/>
                </a:moveTo>
                <a:lnTo>
                  <a:pt x="960395" y="0"/>
                </a:lnTo>
                <a:lnTo>
                  <a:pt x="960395" y="621637"/>
                </a:lnTo>
                <a:lnTo>
                  <a:pt x="0" y="6216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028700" y="876300"/>
            <a:ext cx="7882440" cy="1351935"/>
          </a:xfrm>
          <a:prstGeom prst="rect">
            <a:avLst/>
          </a:prstGeom>
        </p:spPr>
        <p:txBody>
          <a:bodyPr anchor="t" rtlCol="false" tIns="0" lIns="0" bIns="0" rIns="0">
            <a:spAutoFit/>
          </a:bodyPr>
          <a:lstStyle/>
          <a:p>
            <a:pPr algn="l" marL="0" indent="0" lvl="0">
              <a:lnSpc>
                <a:spcPts val="11058"/>
              </a:lnSpc>
            </a:pPr>
            <a:r>
              <a:rPr lang="en-US" b="true" sz="7899">
                <a:solidFill>
                  <a:srgbClr val="1F1F1F"/>
                </a:solidFill>
                <a:latin typeface="Montserrat Bold"/>
                <a:ea typeface="Montserrat Bold"/>
                <a:cs typeface="Montserrat Bold"/>
                <a:sym typeface="Montserrat Bold"/>
              </a:rPr>
              <a:t>Exploratory</a:t>
            </a:r>
          </a:p>
        </p:txBody>
      </p:sp>
      <p:sp>
        <p:nvSpPr>
          <p:cNvPr name="TextBox 10" id="10"/>
          <p:cNvSpPr txBox="true"/>
          <p:nvPr/>
        </p:nvSpPr>
        <p:spPr>
          <a:xfrm rot="0">
            <a:off x="1774257" y="2014472"/>
            <a:ext cx="7136884" cy="1351935"/>
          </a:xfrm>
          <a:prstGeom prst="rect">
            <a:avLst/>
          </a:prstGeom>
        </p:spPr>
        <p:txBody>
          <a:bodyPr anchor="t" rtlCol="false" tIns="0" lIns="0" bIns="0" rIns="0">
            <a:spAutoFit/>
          </a:bodyPr>
          <a:lstStyle/>
          <a:p>
            <a:pPr algn="l" marL="0" indent="0" lvl="0">
              <a:lnSpc>
                <a:spcPts val="11058"/>
              </a:lnSpc>
            </a:pPr>
            <a:r>
              <a:rPr lang="en-US" b="true" sz="7899">
                <a:solidFill>
                  <a:srgbClr val="10B981"/>
                </a:solidFill>
                <a:latin typeface="Montserrat Bold"/>
                <a:ea typeface="Montserrat Bold"/>
                <a:cs typeface="Montserrat Bold"/>
                <a:sym typeface="Montserrat Bold"/>
              </a:rPr>
              <a:t>Data Analysis</a:t>
            </a:r>
          </a:p>
        </p:txBody>
      </p:sp>
      <p:sp>
        <p:nvSpPr>
          <p:cNvPr name="TextBox 11" id="11"/>
          <p:cNvSpPr txBox="true"/>
          <p:nvPr/>
        </p:nvSpPr>
        <p:spPr>
          <a:xfrm rot="0">
            <a:off x="1561324" y="6607126"/>
            <a:ext cx="6817193" cy="2167503"/>
          </a:xfrm>
          <a:prstGeom prst="rect">
            <a:avLst/>
          </a:prstGeom>
        </p:spPr>
        <p:txBody>
          <a:bodyPr anchor="t" rtlCol="false" tIns="0" lIns="0" bIns="0" rIns="0">
            <a:spAutoFit/>
          </a:bodyPr>
          <a:lstStyle/>
          <a:p>
            <a:pPr algn="l" marL="0" indent="0" lvl="0">
              <a:lnSpc>
                <a:spcPts val="2856"/>
              </a:lnSpc>
              <a:spcBef>
                <a:spcPct val="0"/>
              </a:spcBef>
            </a:pPr>
            <a:r>
              <a:rPr lang="en-US" sz="2040">
                <a:solidFill>
                  <a:srgbClr val="6B7280"/>
                </a:solidFill>
                <a:latin typeface="Inter"/>
                <a:ea typeface="Inter"/>
                <a:cs typeface="Inter"/>
                <a:sym typeface="Inter"/>
              </a:rPr>
              <a:t>Sensor signal analysis reveals distinct patterns between dynamic activities (walking, climbing stairs) showing high-frequency oscillations, and static activities (sitting, standing, laying) displaying stable, low-variance signals. Accelerometer data captures motion intensity while gyroscope readings indicate rotational movements.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4668767" y="5341624"/>
            <a:ext cx="8950467" cy="3916676"/>
            <a:chOff x="0" y="0"/>
            <a:chExt cx="2357325" cy="1031552"/>
          </a:xfrm>
        </p:grpSpPr>
        <p:sp>
          <p:nvSpPr>
            <p:cNvPr name="Freeform 3" id="3"/>
            <p:cNvSpPr/>
            <p:nvPr/>
          </p:nvSpPr>
          <p:spPr>
            <a:xfrm flipH="false" flipV="false" rot="0">
              <a:off x="0" y="0"/>
              <a:ext cx="2357325" cy="1031552"/>
            </a:xfrm>
            <a:custGeom>
              <a:avLst/>
              <a:gdLst/>
              <a:ahLst/>
              <a:cxnLst/>
              <a:rect r="r" b="b" t="t" l="l"/>
              <a:pathLst>
                <a:path h="1031552" w="2357325">
                  <a:moveTo>
                    <a:pt x="31139" y="0"/>
                  </a:moveTo>
                  <a:lnTo>
                    <a:pt x="2326186" y="0"/>
                  </a:lnTo>
                  <a:cubicBezTo>
                    <a:pt x="2334444" y="0"/>
                    <a:pt x="2342365" y="3281"/>
                    <a:pt x="2348204" y="9120"/>
                  </a:cubicBezTo>
                  <a:cubicBezTo>
                    <a:pt x="2354044" y="14960"/>
                    <a:pt x="2357325" y="22880"/>
                    <a:pt x="2357325" y="31139"/>
                  </a:cubicBezTo>
                  <a:lnTo>
                    <a:pt x="2357325" y="1000413"/>
                  </a:lnTo>
                  <a:cubicBezTo>
                    <a:pt x="2357325" y="1008672"/>
                    <a:pt x="2354044" y="1016592"/>
                    <a:pt x="2348204" y="1022432"/>
                  </a:cubicBezTo>
                  <a:cubicBezTo>
                    <a:pt x="2342365" y="1028272"/>
                    <a:pt x="2334444" y="1031552"/>
                    <a:pt x="2326186" y="1031552"/>
                  </a:cubicBezTo>
                  <a:lnTo>
                    <a:pt x="31139" y="1031552"/>
                  </a:lnTo>
                  <a:cubicBezTo>
                    <a:pt x="22880" y="1031552"/>
                    <a:pt x="14960" y="1028272"/>
                    <a:pt x="9120" y="1022432"/>
                  </a:cubicBezTo>
                  <a:cubicBezTo>
                    <a:pt x="3281" y="1016592"/>
                    <a:pt x="0" y="1008672"/>
                    <a:pt x="0" y="1000413"/>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1069652"/>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674755" y="4784538"/>
            <a:ext cx="2614487" cy="2614487"/>
          </a:xfrm>
          <a:custGeom>
            <a:avLst/>
            <a:gdLst/>
            <a:ahLst/>
            <a:cxnLst/>
            <a:rect r="r" b="b" t="t" l="l"/>
            <a:pathLst>
              <a:path h="2614487" w="2614487">
                <a:moveTo>
                  <a:pt x="0" y="0"/>
                </a:moveTo>
                <a:lnTo>
                  <a:pt x="2614487" y="0"/>
                </a:lnTo>
                <a:lnTo>
                  <a:pt x="2614487" y="2614486"/>
                </a:lnTo>
                <a:lnTo>
                  <a:pt x="0" y="26144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4000233" y="6472390"/>
            <a:ext cx="2614487" cy="2614487"/>
          </a:xfrm>
          <a:custGeom>
            <a:avLst/>
            <a:gdLst/>
            <a:ahLst/>
            <a:cxnLst/>
            <a:rect r="r" b="b" t="t" l="l"/>
            <a:pathLst>
              <a:path h="2614487" w="2614487">
                <a:moveTo>
                  <a:pt x="2614487" y="0"/>
                </a:moveTo>
                <a:lnTo>
                  <a:pt x="0" y="0"/>
                </a:lnTo>
                <a:lnTo>
                  <a:pt x="0" y="2614487"/>
                </a:lnTo>
                <a:lnTo>
                  <a:pt x="2614487" y="2614487"/>
                </a:lnTo>
                <a:lnTo>
                  <a:pt x="261448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083359" y="5306930"/>
            <a:ext cx="1700559" cy="1753898"/>
          </a:xfrm>
          <a:custGeom>
            <a:avLst/>
            <a:gdLst/>
            <a:ahLst/>
            <a:cxnLst/>
            <a:rect r="r" b="b" t="t" l="l"/>
            <a:pathLst>
              <a:path h="1753898" w="1700559">
                <a:moveTo>
                  <a:pt x="0" y="0"/>
                </a:moveTo>
                <a:lnTo>
                  <a:pt x="1700559" y="0"/>
                </a:lnTo>
                <a:lnTo>
                  <a:pt x="1700559" y="1753897"/>
                </a:lnTo>
                <a:lnTo>
                  <a:pt x="0" y="1753897"/>
                </a:lnTo>
                <a:lnTo>
                  <a:pt x="0" y="0"/>
                </a:lnTo>
                <a:close/>
              </a:path>
            </a:pathLst>
          </a:custGeom>
          <a:blipFill>
            <a:blip r:embed="rId4"/>
            <a:stretch>
              <a:fillRect l="0" t="0" r="0" b="0"/>
            </a:stretch>
          </a:blipFill>
        </p:spPr>
      </p:sp>
      <p:sp>
        <p:nvSpPr>
          <p:cNvPr name="Freeform 8" id="8"/>
          <p:cNvSpPr/>
          <p:nvPr/>
        </p:nvSpPr>
        <p:spPr>
          <a:xfrm flipH="false" flipV="false" rot="0">
            <a:off x="12739180" y="7349583"/>
            <a:ext cx="5126337" cy="845846"/>
          </a:xfrm>
          <a:custGeom>
            <a:avLst/>
            <a:gdLst/>
            <a:ahLst/>
            <a:cxnLst/>
            <a:rect r="r" b="b" t="t" l="l"/>
            <a:pathLst>
              <a:path h="845846" w="5126337">
                <a:moveTo>
                  <a:pt x="0" y="0"/>
                </a:moveTo>
                <a:lnTo>
                  <a:pt x="5126337" y="0"/>
                </a:lnTo>
                <a:lnTo>
                  <a:pt x="5126337" y="845845"/>
                </a:lnTo>
                <a:lnTo>
                  <a:pt x="0" y="845845"/>
                </a:lnTo>
                <a:lnTo>
                  <a:pt x="0" y="0"/>
                </a:lnTo>
                <a:close/>
              </a:path>
            </a:pathLst>
          </a:custGeom>
          <a:blipFill>
            <a:blip r:embed="rId5"/>
            <a:stretch>
              <a:fillRect l="0" t="0" r="0" b="0"/>
            </a:stretch>
          </a:blipFill>
        </p:spPr>
      </p:sp>
      <p:sp>
        <p:nvSpPr>
          <p:cNvPr name="Freeform 9" id="9"/>
          <p:cNvSpPr/>
          <p:nvPr/>
        </p:nvSpPr>
        <p:spPr>
          <a:xfrm flipH="false" flipV="false" rot="0">
            <a:off x="1413430" y="1976899"/>
            <a:ext cx="2365593" cy="1694356"/>
          </a:xfrm>
          <a:custGeom>
            <a:avLst/>
            <a:gdLst/>
            <a:ahLst/>
            <a:cxnLst/>
            <a:rect r="r" b="b" t="t" l="l"/>
            <a:pathLst>
              <a:path h="1694356" w="2365593">
                <a:moveTo>
                  <a:pt x="0" y="0"/>
                </a:moveTo>
                <a:lnTo>
                  <a:pt x="2365594" y="0"/>
                </a:lnTo>
                <a:lnTo>
                  <a:pt x="2365594" y="1694356"/>
                </a:lnTo>
                <a:lnTo>
                  <a:pt x="0" y="1694356"/>
                </a:lnTo>
                <a:lnTo>
                  <a:pt x="0" y="0"/>
                </a:lnTo>
                <a:close/>
              </a:path>
            </a:pathLst>
          </a:custGeom>
          <a:blipFill>
            <a:blip r:embed="rId6"/>
            <a:stretch>
              <a:fillRect l="0" t="0" r="0" b="0"/>
            </a:stretch>
          </a:blipFill>
        </p:spPr>
      </p:sp>
      <p:sp>
        <p:nvSpPr>
          <p:cNvPr name="Freeform 10" id="10"/>
          <p:cNvSpPr/>
          <p:nvPr/>
        </p:nvSpPr>
        <p:spPr>
          <a:xfrm flipH="false" flipV="false" rot="0">
            <a:off x="15641947" y="1458477"/>
            <a:ext cx="1638614" cy="1206276"/>
          </a:xfrm>
          <a:custGeom>
            <a:avLst/>
            <a:gdLst/>
            <a:ahLst/>
            <a:cxnLst/>
            <a:rect r="r" b="b" t="t" l="l"/>
            <a:pathLst>
              <a:path h="1206276" w="1638614">
                <a:moveTo>
                  <a:pt x="0" y="0"/>
                </a:moveTo>
                <a:lnTo>
                  <a:pt x="1638614" y="0"/>
                </a:lnTo>
                <a:lnTo>
                  <a:pt x="1638614" y="1206276"/>
                </a:lnTo>
                <a:lnTo>
                  <a:pt x="0" y="1206276"/>
                </a:lnTo>
                <a:lnTo>
                  <a:pt x="0" y="0"/>
                </a:lnTo>
                <a:close/>
              </a:path>
            </a:pathLst>
          </a:custGeom>
          <a:blipFill>
            <a:blip r:embed="rId7"/>
            <a:stretch>
              <a:fillRect l="0" t="0" r="0" b="0"/>
            </a:stretch>
          </a:blipFill>
        </p:spPr>
      </p:sp>
      <p:sp>
        <p:nvSpPr>
          <p:cNvPr name="TextBox 11" id="11"/>
          <p:cNvSpPr txBox="true"/>
          <p:nvPr/>
        </p:nvSpPr>
        <p:spPr>
          <a:xfrm rot="0">
            <a:off x="4998696" y="866775"/>
            <a:ext cx="8312264" cy="1468001"/>
          </a:xfrm>
          <a:prstGeom prst="rect">
            <a:avLst/>
          </a:prstGeom>
        </p:spPr>
        <p:txBody>
          <a:bodyPr anchor="t" rtlCol="false" tIns="0" lIns="0" bIns="0" rIns="0">
            <a:spAutoFit/>
          </a:bodyPr>
          <a:lstStyle/>
          <a:p>
            <a:pPr algn="l" marL="0" indent="0" lvl="0">
              <a:lnSpc>
                <a:spcPts val="12011"/>
              </a:lnSpc>
            </a:pPr>
            <a:r>
              <a:rPr lang="en-US" b="true" sz="8579">
                <a:solidFill>
                  <a:srgbClr val="1F1F1F"/>
                </a:solidFill>
                <a:latin typeface="Montserrat Bold"/>
                <a:ea typeface="Montserrat Bold"/>
                <a:cs typeface="Montserrat Bold"/>
                <a:sym typeface="Montserrat Bold"/>
              </a:rPr>
              <a:t>Baseline LSTM</a:t>
            </a:r>
          </a:p>
        </p:txBody>
      </p:sp>
      <p:sp>
        <p:nvSpPr>
          <p:cNvPr name="TextBox 12" id="12"/>
          <p:cNvSpPr txBox="true"/>
          <p:nvPr/>
        </p:nvSpPr>
        <p:spPr>
          <a:xfrm rot="0">
            <a:off x="5729342" y="2005269"/>
            <a:ext cx="7581618" cy="1468001"/>
          </a:xfrm>
          <a:prstGeom prst="rect">
            <a:avLst/>
          </a:prstGeom>
        </p:spPr>
        <p:txBody>
          <a:bodyPr anchor="t" rtlCol="false" tIns="0" lIns="0" bIns="0" rIns="0">
            <a:spAutoFit/>
          </a:bodyPr>
          <a:lstStyle/>
          <a:p>
            <a:pPr algn="l" marL="0" indent="0" lvl="0">
              <a:lnSpc>
                <a:spcPts val="12011"/>
              </a:lnSpc>
            </a:pPr>
            <a:r>
              <a:rPr lang="en-US" b="true" sz="8579">
                <a:solidFill>
                  <a:srgbClr val="10B981"/>
                </a:solidFill>
                <a:latin typeface="Montserrat Bold"/>
                <a:ea typeface="Montserrat Bold"/>
                <a:cs typeface="Montserrat Bold"/>
                <a:sym typeface="Montserrat Bold"/>
              </a:rPr>
              <a:t>Model</a:t>
            </a:r>
          </a:p>
        </p:txBody>
      </p:sp>
      <p:sp>
        <p:nvSpPr>
          <p:cNvPr name="TextBox 13" id="13"/>
          <p:cNvSpPr txBox="true"/>
          <p:nvPr/>
        </p:nvSpPr>
        <p:spPr>
          <a:xfrm rot="0">
            <a:off x="5475104" y="5969637"/>
            <a:ext cx="7359449" cy="2501429"/>
          </a:xfrm>
          <a:prstGeom prst="rect">
            <a:avLst/>
          </a:prstGeom>
        </p:spPr>
        <p:txBody>
          <a:bodyPr anchor="t" rtlCol="false" tIns="0" lIns="0" bIns="0" rIns="0">
            <a:spAutoFit/>
          </a:bodyPr>
          <a:lstStyle/>
          <a:p>
            <a:pPr algn="ctr" marL="0" indent="0" lvl="0">
              <a:lnSpc>
                <a:spcPts val="3350"/>
              </a:lnSpc>
              <a:spcBef>
                <a:spcPct val="0"/>
              </a:spcBef>
            </a:pPr>
            <a:r>
              <a:rPr lang="en-US" sz="2393">
                <a:solidFill>
                  <a:srgbClr val="6B7280"/>
                </a:solidFill>
                <a:latin typeface="Inter"/>
                <a:ea typeface="Inter"/>
                <a:cs typeface="Inter"/>
                <a:sym typeface="Inter"/>
              </a:rPr>
              <a:t>The baseline model uses Long Short-Term Memory (LSTM) networks to capture temporal dependencies in sequential sensor data. LSTMs excel at learning patterns across 128 timesteps. Training employed Adam optimizer, categorical cross-entropy loss, and early stopping callbacks to prevent overfitting.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1028700" y="6178452"/>
            <a:ext cx="7882440" cy="3079848"/>
            <a:chOff x="0" y="0"/>
            <a:chExt cx="2076034" cy="811153"/>
          </a:xfrm>
        </p:grpSpPr>
        <p:sp>
          <p:nvSpPr>
            <p:cNvPr name="Freeform 3" id="3"/>
            <p:cNvSpPr/>
            <p:nvPr/>
          </p:nvSpPr>
          <p:spPr>
            <a:xfrm flipH="false" flipV="false" rot="0">
              <a:off x="0" y="0"/>
              <a:ext cx="2076034" cy="811153"/>
            </a:xfrm>
            <a:custGeom>
              <a:avLst/>
              <a:gdLst/>
              <a:ahLst/>
              <a:cxnLst/>
              <a:rect r="r" b="b" t="t" l="l"/>
              <a:pathLst>
                <a:path h="811153" w="2076034">
                  <a:moveTo>
                    <a:pt x="35358" y="0"/>
                  </a:moveTo>
                  <a:lnTo>
                    <a:pt x="2040675" y="0"/>
                  </a:lnTo>
                  <a:cubicBezTo>
                    <a:pt x="2060203" y="0"/>
                    <a:pt x="2076034" y="15830"/>
                    <a:pt x="2076034" y="35358"/>
                  </a:cubicBezTo>
                  <a:lnTo>
                    <a:pt x="2076034" y="775795"/>
                  </a:lnTo>
                  <a:cubicBezTo>
                    <a:pt x="2076034" y="795323"/>
                    <a:pt x="2060203" y="811153"/>
                    <a:pt x="2040675" y="811153"/>
                  </a:cubicBezTo>
                  <a:lnTo>
                    <a:pt x="35358" y="811153"/>
                  </a:lnTo>
                  <a:cubicBezTo>
                    <a:pt x="15830" y="811153"/>
                    <a:pt x="0" y="795323"/>
                    <a:pt x="0" y="775795"/>
                  </a:cubicBezTo>
                  <a:lnTo>
                    <a:pt x="0" y="35358"/>
                  </a:lnTo>
                  <a:cubicBezTo>
                    <a:pt x="0" y="15830"/>
                    <a:pt x="15830" y="0"/>
                    <a:pt x="35358" y="0"/>
                  </a:cubicBezTo>
                  <a:close/>
                </a:path>
              </a:pathLst>
            </a:custGeom>
            <a:solidFill>
              <a:srgbClr val="D1FAE5"/>
            </a:solidFill>
          </p:spPr>
        </p:sp>
        <p:sp>
          <p:nvSpPr>
            <p:cNvPr name="TextBox 4" id="4"/>
            <p:cNvSpPr txBox="true"/>
            <p:nvPr/>
          </p:nvSpPr>
          <p:spPr>
            <a:xfrm>
              <a:off x="0" y="-38100"/>
              <a:ext cx="2076034" cy="849253"/>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1351519" y="4685714"/>
            <a:ext cx="6383423" cy="4348707"/>
          </a:xfrm>
          <a:custGeom>
            <a:avLst/>
            <a:gdLst/>
            <a:ahLst/>
            <a:cxnLst/>
            <a:rect r="r" b="b" t="t" l="l"/>
            <a:pathLst>
              <a:path h="4348707" w="6383423">
                <a:moveTo>
                  <a:pt x="0" y="0"/>
                </a:moveTo>
                <a:lnTo>
                  <a:pt x="6383423" y="0"/>
                </a:lnTo>
                <a:lnTo>
                  <a:pt x="6383423" y="4348707"/>
                </a:lnTo>
                <a:lnTo>
                  <a:pt x="0" y="4348707"/>
                </a:lnTo>
                <a:lnTo>
                  <a:pt x="0" y="0"/>
                </a:lnTo>
                <a:close/>
              </a:path>
            </a:pathLst>
          </a:custGeom>
          <a:blipFill>
            <a:blip r:embed="rId2"/>
            <a:stretch>
              <a:fillRect l="0" t="0" r="0" b="0"/>
            </a:stretch>
          </a:blipFill>
        </p:spPr>
      </p:sp>
      <p:sp>
        <p:nvSpPr>
          <p:cNvPr name="Freeform 6" id="6"/>
          <p:cNvSpPr/>
          <p:nvPr/>
        </p:nvSpPr>
        <p:spPr>
          <a:xfrm flipH="false" flipV="false" rot="0">
            <a:off x="10034609" y="4100456"/>
            <a:ext cx="1605340" cy="1725467"/>
          </a:xfrm>
          <a:custGeom>
            <a:avLst/>
            <a:gdLst/>
            <a:ahLst/>
            <a:cxnLst/>
            <a:rect r="r" b="b" t="t" l="l"/>
            <a:pathLst>
              <a:path h="1725467" w="1605340">
                <a:moveTo>
                  <a:pt x="0" y="0"/>
                </a:moveTo>
                <a:lnTo>
                  <a:pt x="1605339" y="0"/>
                </a:lnTo>
                <a:lnTo>
                  <a:pt x="1605339" y="1725467"/>
                </a:lnTo>
                <a:lnTo>
                  <a:pt x="0" y="1725467"/>
                </a:lnTo>
                <a:lnTo>
                  <a:pt x="0" y="0"/>
                </a:lnTo>
                <a:close/>
              </a:path>
            </a:pathLst>
          </a:custGeom>
          <a:blipFill>
            <a:blip r:embed="rId3"/>
            <a:stretch>
              <a:fillRect l="0" t="0" r="0" b="0"/>
            </a:stretch>
          </a:blipFill>
        </p:spPr>
      </p:sp>
      <p:sp>
        <p:nvSpPr>
          <p:cNvPr name="Freeform 7" id="7"/>
          <p:cNvSpPr/>
          <p:nvPr/>
        </p:nvSpPr>
        <p:spPr>
          <a:xfrm flipH="false" flipV="false" rot="0">
            <a:off x="10463836" y="4556716"/>
            <a:ext cx="828975" cy="704629"/>
          </a:xfrm>
          <a:custGeom>
            <a:avLst/>
            <a:gdLst/>
            <a:ahLst/>
            <a:cxnLst/>
            <a:rect r="r" b="b" t="t" l="l"/>
            <a:pathLst>
              <a:path h="704629" w="828975">
                <a:moveTo>
                  <a:pt x="0" y="0"/>
                </a:moveTo>
                <a:lnTo>
                  <a:pt x="828974" y="0"/>
                </a:lnTo>
                <a:lnTo>
                  <a:pt x="828974" y="704629"/>
                </a:lnTo>
                <a:lnTo>
                  <a:pt x="0" y="704629"/>
                </a:lnTo>
                <a:lnTo>
                  <a:pt x="0" y="0"/>
                </a:lnTo>
                <a:close/>
              </a:path>
            </a:pathLst>
          </a:custGeom>
          <a:blipFill>
            <a:blip r:embed="rId4"/>
            <a:stretch>
              <a:fillRect l="0" t="0" r="0" b="0"/>
            </a:stretch>
          </a:blipFill>
        </p:spPr>
      </p:sp>
      <p:sp>
        <p:nvSpPr>
          <p:cNvPr name="Freeform 8" id="8"/>
          <p:cNvSpPr/>
          <p:nvPr/>
        </p:nvSpPr>
        <p:spPr>
          <a:xfrm flipH="false" flipV="false" rot="0">
            <a:off x="11834834" y="-156844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028700" y="866775"/>
            <a:ext cx="7882440" cy="1369655"/>
          </a:xfrm>
          <a:prstGeom prst="rect">
            <a:avLst/>
          </a:prstGeom>
        </p:spPr>
        <p:txBody>
          <a:bodyPr anchor="t" rtlCol="false" tIns="0" lIns="0" bIns="0" rIns="0">
            <a:spAutoFit/>
          </a:bodyPr>
          <a:lstStyle/>
          <a:p>
            <a:pPr algn="l" marL="0" indent="0" lvl="0">
              <a:lnSpc>
                <a:spcPts val="11132"/>
              </a:lnSpc>
            </a:pPr>
            <a:r>
              <a:rPr lang="en-US" b="true" sz="7951">
                <a:solidFill>
                  <a:srgbClr val="1F1F1F"/>
                </a:solidFill>
                <a:latin typeface="Montserrat Bold"/>
                <a:ea typeface="Montserrat Bold"/>
                <a:cs typeface="Montserrat Bold"/>
                <a:sym typeface="Montserrat Bold"/>
              </a:rPr>
              <a:t>CNN-LSTM</a:t>
            </a:r>
          </a:p>
        </p:txBody>
      </p:sp>
      <p:sp>
        <p:nvSpPr>
          <p:cNvPr name="TextBox 10" id="10"/>
          <p:cNvSpPr txBox="true"/>
          <p:nvPr/>
        </p:nvSpPr>
        <p:spPr>
          <a:xfrm rot="0">
            <a:off x="1774257" y="2004947"/>
            <a:ext cx="7136884" cy="1369655"/>
          </a:xfrm>
          <a:prstGeom prst="rect">
            <a:avLst/>
          </a:prstGeom>
        </p:spPr>
        <p:txBody>
          <a:bodyPr anchor="t" rtlCol="false" tIns="0" lIns="0" bIns="0" rIns="0">
            <a:spAutoFit/>
          </a:bodyPr>
          <a:lstStyle/>
          <a:p>
            <a:pPr algn="l" marL="0" indent="0" lvl="0">
              <a:lnSpc>
                <a:spcPts val="11132"/>
              </a:lnSpc>
            </a:pPr>
            <a:r>
              <a:rPr lang="en-US" b="true" sz="7951">
                <a:solidFill>
                  <a:srgbClr val="10B981"/>
                </a:solidFill>
                <a:latin typeface="Montserrat Bold"/>
                <a:ea typeface="Montserrat Bold"/>
                <a:cs typeface="Montserrat Bold"/>
                <a:sym typeface="Montserrat Bold"/>
              </a:rPr>
              <a:t>Hybrid Model</a:t>
            </a:r>
          </a:p>
        </p:txBody>
      </p:sp>
      <p:sp>
        <p:nvSpPr>
          <p:cNvPr name="TextBox 11" id="11"/>
          <p:cNvSpPr txBox="true"/>
          <p:nvPr/>
        </p:nvSpPr>
        <p:spPr>
          <a:xfrm rot="0">
            <a:off x="1561324" y="6607126"/>
            <a:ext cx="6817193" cy="2055862"/>
          </a:xfrm>
          <a:prstGeom prst="rect">
            <a:avLst/>
          </a:prstGeom>
        </p:spPr>
        <p:txBody>
          <a:bodyPr anchor="t" rtlCol="false" tIns="0" lIns="0" bIns="0" rIns="0">
            <a:spAutoFit/>
          </a:bodyPr>
          <a:lstStyle/>
          <a:p>
            <a:pPr algn="l" marL="0" indent="0" lvl="0">
              <a:lnSpc>
                <a:spcPts val="2709"/>
              </a:lnSpc>
              <a:spcBef>
                <a:spcPct val="0"/>
              </a:spcBef>
            </a:pPr>
            <a:r>
              <a:rPr lang="en-US" sz="1935">
                <a:solidFill>
                  <a:srgbClr val="6B7280"/>
                </a:solidFill>
                <a:latin typeface="Inter"/>
                <a:ea typeface="Inter"/>
                <a:cs typeface="Inter"/>
                <a:sym typeface="Inter"/>
              </a:rPr>
              <a:t>The CNN-LSTM hybrid architecture combines Conv1D layers with MaxPooling for local feature extraction, followed by LSTM layers for temporal modeling. This approach captures both short-term patterns in sensor signals and long-term sequential dependencies, offering improved feature representation over the baseline LSTM model.</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4715740" y="5555774"/>
            <a:ext cx="8950467" cy="3166519"/>
            <a:chOff x="0" y="0"/>
            <a:chExt cx="2357325" cy="833980"/>
          </a:xfrm>
        </p:grpSpPr>
        <p:sp>
          <p:nvSpPr>
            <p:cNvPr name="Freeform 3" id="3"/>
            <p:cNvSpPr/>
            <p:nvPr/>
          </p:nvSpPr>
          <p:spPr>
            <a:xfrm flipH="false" flipV="false" rot="0">
              <a:off x="0" y="0"/>
              <a:ext cx="2357325" cy="833980"/>
            </a:xfrm>
            <a:custGeom>
              <a:avLst/>
              <a:gdLst/>
              <a:ahLst/>
              <a:cxnLst/>
              <a:rect r="r" b="b" t="t" l="l"/>
              <a:pathLst>
                <a:path h="833980" w="2357325">
                  <a:moveTo>
                    <a:pt x="31139" y="0"/>
                  </a:moveTo>
                  <a:lnTo>
                    <a:pt x="2326186" y="0"/>
                  </a:lnTo>
                  <a:cubicBezTo>
                    <a:pt x="2334444" y="0"/>
                    <a:pt x="2342365" y="3281"/>
                    <a:pt x="2348204" y="9120"/>
                  </a:cubicBezTo>
                  <a:cubicBezTo>
                    <a:pt x="2354044" y="14960"/>
                    <a:pt x="2357325" y="22880"/>
                    <a:pt x="2357325" y="31139"/>
                  </a:cubicBezTo>
                  <a:lnTo>
                    <a:pt x="2357325" y="802841"/>
                  </a:lnTo>
                  <a:cubicBezTo>
                    <a:pt x="2357325" y="811100"/>
                    <a:pt x="2354044" y="819020"/>
                    <a:pt x="2348204" y="824860"/>
                  </a:cubicBezTo>
                  <a:cubicBezTo>
                    <a:pt x="2342365" y="830700"/>
                    <a:pt x="2334444" y="833980"/>
                    <a:pt x="2326186" y="833980"/>
                  </a:cubicBezTo>
                  <a:lnTo>
                    <a:pt x="31139" y="833980"/>
                  </a:lnTo>
                  <a:cubicBezTo>
                    <a:pt x="22880" y="833980"/>
                    <a:pt x="14960" y="830700"/>
                    <a:pt x="9120" y="824860"/>
                  </a:cubicBezTo>
                  <a:cubicBezTo>
                    <a:pt x="3281" y="819020"/>
                    <a:pt x="0" y="811100"/>
                    <a:pt x="0" y="802841"/>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872080"/>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720254" y="3684845"/>
            <a:ext cx="2614487" cy="2614487"/>
          </a:xfrm>
          <a:custGeom>
            <a:avLst/>
            <a:gdLst/>
            <a:ahLst/>
            <a:cxnLst/>
            <a:rect r="r" b="b" t="t" l="l"/>
            <a:pathLst>
              <a:path h="2614487" w="2614487">
                <a:moveTo>
                  <a:pt x="0" y="0"/>
                </a:moveTo>
                <a:lnTo>
                  <a:pt x="2614486" y="0"/>
                </a:lnTo>
                <a:lnTo>
                  <a:pt x="2614486" y="2614486"/>
                </a:lnTo>
                <a:lnTo>
                  <a:pt x="0" y="26144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4078523" y="6643813"/>
            <a:ext cx="2614487" cy="2614487"/>
          </a:xfrm>
          <a:custGeom>
            <a:avLst/>
            <a:gdLst/>
            <a:ahLst/>
            <a:cxnLst/>
            <a:rect r="r" b="b" t="t" l="l"/>
            <a:pathLst>
              <a:path h="2614487" w="2614487">
                <a:moveTo>
                  <a:pt x="2614487" y="0"/>
                </a:moveTo>
                <a:lnTo>
                  <a:pt x="0" y="0"/>
                </a:lnTo>
                <a:lnTo>
                  <a:pt x="0" y="2614487"/>
                </a:lnTo>
                <a:lnTo>
                  <a:pt x="2614487" y="2614487"/>
                </a:lnTo>
                <a:lnTo>
                  <a:pt x="261448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2444019" y="4158705"/>
            <a:ext cx="1018659" cy="1301167"/>
          </a:xfrm>
          <a:custGeom>
            <a:avLst/>
            <a:gdLst/>
            <a:ahLst/>
            <a:cxnLst/>
            <a:rect r="r" b="b" t="t" l="l"/>
            <a:pathLst>
              <a:path h="1301167" w="1018659">
                <a:moveTo>
                  <a:pt x="0" y="0"/>
                </a:moveTo>
                <a:lnTo>
                  <a:pt x="1018659" y="0"/>
                </a:lnTo>
                <a:lnTo>
                  <a:pt x="1018659" y="1301167"/>
                </a:lnTo>
                <a:lnTo>
                  <a:pt x="0" y="1301167"/>
                </a:lnTo>
                <a:lnTo>
                  <a:pt x="0" y="0"/>
                </a:lnTo>
                <a:close/>
              </a:path>
            </a:pathLst>
          </a:custGeom>
          <a:blipFill>
            <a:blip r:embed="rId4"/>
            <a:stretch>
              <a:fillRect l="0" t="0" r="0" b="0"/>
            </a:stretch>
          </a:blipFill>
        </p:spPr>
      </p:sp>
      <p:sp>
        <p:nvSpPr>
          <p:cNvPr name="Freeform 8" id="8"/>
          <p:cNvSpPr/>
          <p:nvPr/>
        </p:nvSpPr>
        <p:spPr>
          <a:xfrm flipH="false" flipV="false" rot="0">
            <a:off x="14839278" y="7464028"/>
            <a:ext cx="1032928" cy="1032928"/>
          </a:xfrm>
          <a:custGeom>
            <a:avLst/>
            <a:gdLst/>
            <a:ahLst/>
            <a:cxnLst/>
            <a:rect r="r" b="b" t="t" l="l"/>
            <a:pathLst>
              <a:path h="1032928" w="1032928">
                <a:moveTo>
                  <a:pt x="0" y="0"/>
                </a:moveTo>
                <a:lnTo>
                  <a:pt x="1032928" y="0"/>
                </a:lnTo>
                <a:lnTo>
                  <a:pt x="1032928" y="1032928"/>
                </a:lnTo>
                <a:lnTo>
                  <a:pt x="0" y="1032928"/>
                </a:lnTo>
                <a:lnTo>
                  <a:pt x="0" y="0"/>
                </a:lnTo>
                <a:close/>
              </a:path>
            </a:pathLst>
          </a:custGeom>
          <a:blipFill>
            <a:blip r:embed="rId5"/>
            <a:stretch>
              <a:fillRect l="0" t="0" r="0" b="0"/>
            </a:stretch>
          </a:blipFill>
        </p:spPr>
      </p:sp>
      <p:sp>
        <p:nvSpPr>
          <p:cNvPr name="Freeform 9" id="9"/>
          <p:cNvSpPr/>
          <p:nvPr/>
        </p:nvSpPr>
        <p:spPr>
          <a:xfrm flipH="false" flipV="false" rot="0">
            <a:off x="16120806" y="0"/>
            <a:ext cx="2167194" cy="2167194"/>
          </a:xfrm>
          <a:custGeom>
            <a:avLst/>
            <a:gdLst/>
            <a:ahLst/>
            <a:cxnLst/>
            <a:rect r="r" b="b" t="t" l="l"/>
            <a:pathLst>
              <a:path h="2167194" w="2167194">
                <a:moveTo>
                  <a:pt x="0" y="0"/>
                </a:moveTo>
                <a:lnTo>
                  <a:pt x="2167194" y="0"/>
                </a:lnTo>
                <a:lnTo>
                  <a:pt x="2167194" y="2167194"/>
                </a:lnTo>
                <a:lnTo>
                  <a:pt x="0" y="21671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true" flipV="false" rot="0">
            <a:off x="21638" y="0"/>
            <a:ext cx="2167194" cy="2167194"/>
          </a:xfrm>
          <a:custGeom>
            <a:avLst/>
            <a:gdLst/>
            <a:ahLst/>
            <a:cxnLst/>
            <a:rect r="r" b="b" t="t" l="l"/>
            <a:pathLst>
              <a:path h="2167194" w="2167194">
                <a:moveTo>
                  <a:pt x="2167194" y="0"/>
                </a:moveTo>
                <a:lnTo>
                  <a:pt x="0" y="0"/>
                </a:lnTo>
                <a:lnTo>
                  <a:pt x="0" y="2167194"/>
                </a:lnTo>
                <a:lnTo>
                  <a:pt x="2167194" y="2167194"/>
                </a:lnTo>
                <a:lnTo>
                  <a:pt x="2167194"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4998696" y="847725"/>
            <a:ext cx="9752796" cy="1609725"/>
          </a:xfrm>
          <a:prstGeom prst="rect">
            <a:avLst/>
          </a:prstGeom>
        </p:spPr>
        <p:txBody>
          <a:bodyPr anchor="t" rtlCol="false" tIns="0" lIns="0" bIns="0" rIns="0">
            <a:spAutoFit/>
          </a:bodyPr>
          <a:lstStyle/>
          <a:p>
            <a:pPr algn="l" marL="0" indent="0" lvl="0">
              <a:lnSpc>
                <a:spcPts val="13125"/>
              </a:lnSpc>
            </a:pPr>
            <a:r>
              <a:rPr lang="en-US" b="true" sz="9375">
                <a:solidFill>
                  <a:srgbClr val="1F1F1F"/>
                </a:solidFill>
                <a:latin typeface="Montserrat Bold"/>
                <a:ea typeface="Montserrat Bold"/>
                <a:cs typeface="Montserrat Bold"/>
                <a:sym typeface="Montserrat Bold"/>
              </a:rPr>
              <a:t>Model Results</a:t>
            </a:r>
          </a:p>
        </p:txBody>
      </p:sp>
      <p:sp>
        <p:nvSpPr>
          <p:cNvPr name="TextBox 12" id="12"/>
          <p:cNvSpPr txBox="true"/>
          <p:nvPr/>
        </p:nvSpPr>
        <p:spPr>
          <a:xfrm rot="0">
            <a:off x="5729342" y="1986219"/>
            <a:ext cx="7581618" cy="1609725"/>
          </a:xfrm>
          <a:prstGeom prst="rect">
            <a:avLst/>
          </a:prstGeom>
        </p:spPr>
        <p:txBody>
          <a:bodyPr anchor="t" rtlCol="false" tIns="0" lIns="0" bIns="0" rIns="0">
            <a:spAutoFit/>
          </a:bodyPr>
          <a:lstStyle/>
          <a:p>
            <a:pPr algn="l" marL="0" indent="0" lvl="0">
              <a:lnSpc>
                <a:spcPts val="13125"/>
              </a:lnSpc>
            </a:pPr>
            <a:r>
              <a:rPr lang="en-US" b="true" sz="9375">
                <a:solidFill>
                  <a:srgbClr val="10B981"/>
                </a:solidFill>
                <a:latin typeface="Montserrat Bold"/>
                <a:ea typeface="Montserrat Bold"/>
                <a:cs typeface="Montserrat Bold"/>
                <a:sym typeface="Montserrat Bold"/>
              </a:rPr>
              <a:t>Comparison</a:t>
            </a:r>
          </a:p>
        </p:txBody>
      </p:sp>
      <p:sp>
        <p:nvSpPr>
          <p:cNvPr name="TextBox 13" id="13"/>
          <p:cNvSpPr txBox="true"/>
          <p:nvPr/>
        </p:nvSpPr>
        <p:spPr>
          <a:xfrm rot="0">
            <a:off x="5511987" y="6002231"/>
            <a:ext cx="7359449" cy="2165395"/>
          </a:xfrm>
          <a:prstGeom prst="rect">
            <a:avLst/>
          </a:prstGeom>
        </p:spPr>
        <p:txBody>
          <a:bodyPr anchor="t" rtlCol="false" tIns="0" lIns="0" bIns="0" rIns="0">
            <a:spAutoFit/>
          </a:bodyPr>
          <a:lstStyle/>
          <a:p>
            <a:pPr algn="ctr" marL="0" indent="0" lvl="0">
              <a:lnSpc>
                <a:spcPts val="3497"/>
              </a:lnSpc>
              <a:spcBef>
                <a:spcPct val="0"/>
              </a:spcBef>
            </a:pPr>
            <a:r>
              <a:rPr lang="en-US" sz="2498">
                <a:solidFill>
                  <a:srgbClr val="6B7280"/>
                </a:solidFill>
                <a:latin typeface="Inter"/>
                <a:ea typeface="Inter"/>
                <a:cs typeface="Inter"/>
                <a:sym typeface="Inter"/>
              </a:rPr>
              <a:t>LSTM achieved ~89.9% validation and ~88.97% test accuracy, while CNN-LSTM reached ~91.3% validation but ~88.46% test accuracy. Higher validation scores don't guarantee better generalization.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1028700" y="5341624"/>
            <a:ext cx="8950467" cy="3916676"/>
            <a:chOff x="0" y="0"/>
            <a:chExt cx="2357325" cy="1031552"/>
          </a:xfrm>
        </p:grpSpPr>
        <p:sp>
          <p:nvSpPr>
            <p:cNvPr name="Freeform 3" id="3"/>
            <p:cNvSpPr/>
            <p:nvPr/>
          </p:nvSpPr>
          <p:spPr>
            <a:xfrm flipH="false" flipV="false" rot="0">
              <a:off x="0" y="0"/>
              <a:ext cx="2357325" cy="1031552"/>
            </a:xfrm>
            <a:custGeom>
              <a:avLst/>
              <a:gdLst/>
              <a:ahLst/>
              <a:cxnLst/>
              <a:rect r="r" b="b" t="t" l="l"/>
              <a:pathLst>
                <a:path h="1031552" w="2357325">
                  <a:moveTo>
                    <a:pt x="31139" y="0"/>
                  </a:moveTo>
                  <a:lnTo>
                    <a:pt x="2326186" y="0"/>
                  </a:lnTo>
                  <a:cubicBezTo>
                    <a:pt x="2334444" y="0"/>
                    <a:pt x="2342365" y="3281"/>
                    <a:pt x="2348204" y="9120"/>
                  </a:cubicBezTo>
                  <a:cubicBezTo>
                    <a:pt x="2354044" y="14960"/>
                    <a:pt x="2357325" y="22880"/>
                    <a:pt x="2357325" y="31139"/>
                  </a:cubicBezTo>
                  <a:lnTo>
                    <a:pt x="2357325" y="1000413"/>
                  </a:lnTo>
                  <a:cubicBezTo>
                    <a:pt x="2357325" y="1008672"/>
                    <a:pt x="2354044" y="1016592"/>
                    <a:pt x="2348204" y="1022432"/>
                  </a:cubicBezTo>
                  <a:cubicBezTo>
                    <a:pt x="2342365" y="1028272"/>
                    <a:pt x="2334444" y="1031552"/>
                    <a:pt x="2326186" y="1031552"/>
                  </a:cubicBezTo>
                  <a:lnTo>
                    <a:pt x="31139" y="1031552"/>
                  </a:lnTo>
                  <a:cubicBezTo>
                    <a:pt x="22880" y="1031552"/>
                    <a:pt x="14960" y="1028272"/>
                    <a:pt x="9120" y="1022432"/>
                  </a:cubicBezTo>
                  <a:cubicBezTo>
                    <a:pt x="3281" y="1016592"/>
                    <a:pt x="0" y="1008672"/>
                    <a:pt x="0" y="1000413"/>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1069652"/>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1806670" y="5101711"/>
            <a:ext cx="4231385" cy="4067419"/>
          </a:xfrm>
          <a:custGeom>
            <a:avLst/>
            <a:gdLst/>
            <a:ahLst/>
            <a:cxnLst/>
            <a:rect r="r" b="b" t="t" l="l"/>
            <a:pathLst>
              <a:path h="4067419" w="4231385">
                <a:moveTo>
                  <a:pt x="0" y="0"/>
                </a:moveTo>
                <a:lnTo>
                  <a:pt x="4231385" y="0"/>
                </a:lnTo>
                <a:lnTo>
                  <a:pt x="4231385" y="4067419"/>
                </a:lnTo>
                <a:lnTo>
                  <a:pt x="0" y="4067419"/>
                </a:lnTo>
                <a:lnTo>
                  <a:pt x="0" y="0"/>
                </a:lnTo>
                <a:close/>
              </a:path>
            </a:pathLst>
          </a:custGeom>
          <a:blipFill>
            <a:blip r:embed="rId2"/>
            <a:stretch>
              <a:fillRect l="0" t="0" r="0" b="0"/>
            </a:stretch>
          </a:blipFill>
        </p:spPr>
      </p:sp>
      <p:sp>
        <p:nvSpPr>
          <p:cNvPr name="Freeform 6" id="6"/>
          <p:cNvSpPr/>
          <p:nvPr/>
        </p:nvSpPr>
        <p:spPr>
          <a:xfrm flipH="false" flipV="false" rot="0">
            <a:off x="14073601" y="1028700"/>
            <a:ext cx="3185699" cy="1702901"/>
          </a:xfrm>
          <a:custGeom>
            <a:avLst/>
            <a:gdLst/>
            <a:ahLst/>
            <a:cxnLst/>
            <a:rect r="r" b="b" t="t" l="l"/>
            <a:pathLst>
              <a:path h="1702901" w="3185699">
                <a:moveTo>
                  <a:pt x="0" y="0"/>
                </a:moveTo>
                <a:lnTo>
                  <a:pt x="3185699" y="0"/>
                </a:lnTo>
                <a:lnTo>
                  <a:pt x="3185699" y="1702901"/>
                </a:lnTo>
                <a:lnTo>
                  <a:pt x="0" y="170290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28700" y="885825"/>
            <a:ext cx="8312264" cy="1252260"/>
          </a:xfrm>
          <a:prstGeom prst="rect">
            <a:avLst/>
          </a:prstGeom>
        </p:spPr>
        <p:txBody>
          <a:bodyPr anchor="t" rtlCol="false" tIns="0" lIns="0" bIns="0" rIns="0">
            <a:spAutoFit/>
          </a:bodyPr>
          <a:lstStyle/>
          <a:p>
            <a:pPr algn="l" marL="0" indent="0" lvl="0">
              <a:lnSpc>
                <a:spcPts val="10252"/>
              </a:lnSpc>
            </a:pPr>
            <a:r>
              <a:rPr lang="en-US" b="true" sz="7323">
                <a:solidFill>
                  <a:srgbClr val="1F1F1F"/>
                </a:solidFill>
                <a:latin typeface="Montserrat Bold"/>
                <a:ea typeface="Montserrat Bold"/>
                <a:cs typeface="Montserrat Bold"/>
                <a:sym typeface="Montserrat Bold"/>
              </a:rPr>
              <a:t>Confusion Matrix</a:t>
            </a:r>
          </a:p>
        </p:txBody>
      </p:sp>
      <p:sp>
        <p:nvSpPr>
          <p:cNvPr name="TextBox 8" id="8"/>
          <p:cNvSpPr txBox="true"/>
          <p:nvPr/>
        </p:nvSpPr>
        <p:spPr>
          <a:xfrm rot="0">
            <a:off x="1411059" y="2051110"/>
            <a:ext cx="8492523" cy="1252260"/>
          </a:xfrm>
          <a:prstGeom prst="rect">
            <a:avLst/>
          </a:prstGeom>
        </p:spPr>
        <p:txBody>
          <a:bodyPr anchor="t" rtlCol="false" tIns="0" lIns="0" bIns="0" rIns="0">
            <a:spAutoFit/>
          </a:bodyPr>
          <a:lstStyle/>
          <a:p>
            <a:pPr algn="l" marL="0" indent="0" lvl="0">
              <a:lnSpc>
                <a:spcPts val="10252"/>
              </a:lnSpc>
            </a:pPr>
            <a:r>
              <a:rPr lang="en-US" b="true" sz="7323">
                <a:solidFill>
                  <a:srgbClr val="10B981"/>
                </a:solidFill>
                <a:latin typeface="Montserrat Bold"/>
                <a:ea typeface="Montserrat Bold"/>
                <a:cs typeface="Montserrat Bold"/>
                <a:sym typeface="Montserrat Bold"/>
              </a:rPr>
              <a:t>Analysis</a:t>
            </a:r>
          </a:p>
        </p:txBody>
      </p:sp>
      <p:sp>
        <p:nvSpPr>
          <p:cNvPr name="TextBox 9" id="9"/>
          <p:cNvSpPr txBox="true"/>
          <p:nvPr/>
        </p:nvSpPr>
        <p:spPr>
          <a:xfrm rot="0">
            <a:off x="1835038" y="5979162"/>
            <a:ext cx="7359449" cy="2584276"/>
          </a:xfrm>
          <a:prstGeom prst="rect">
            <a:avLst/>
          </a:prstGeom>
        </p:spPr>
        <p:txBody>
          <a:bodyPr anchor="t" rtlCol="false" tIns="0" lIns="0" bIns="0" rIns="0">
            <a:spAutoFit/>
          </a:bodyPr>
          <a:lstStyle/>
          <a:p>
            <a:pPr algn="l" marL="0" indent="0" lvl="0">
              <a:lnSpc>
                <a:spcPts val="2984"/>
              </a:lnSpc>
              <a:spcBef>
                <a:spcPct val="0"/>
              </a:spcBef>
            </a:pPr>
            <a:r>
              <a:rPr lang="en-US" sz="2131">
                <a:solidFill>
                  <a:srgbClr val="6B7280"/>
                </a:solidFill>
                <a:latin typeface="Inter"/>
                <a:ea typeface="Inter"/>
                <a:cs typeface="Inter"/>
                <a:sym typeface="Inter"/>
              </a:rPr>
              <a:t>Classification errors reveal key insights into model behavior. Walking-related activities (walking, walking upstairs, walking downstairs) show frequent confusion due to similar motion patterns. Sitting vs standing poses challenges from minimal sensor variation. The laying activity achieves strong recognition with near-perfect accuracy due to its distinct signal signature.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702170" y="5939125"/>
            <a:ext cx="16883659" cy="3319175"/>
            <a:chOff x="0" y="0"/>
            <a:chExt cx="4446725" cy="874186"/>
          </a:xfrm>
        </p:grpSpPr>
        <p:sp>
          <p:nvSpPr>
            <p:cNvPr name="Freeform 3" id="3"/>
            <p:cNvSpPr/>
            <p:nvPr/>
          </p:nvSpPr>
          <p:spPr>
            <a:xfrm flipH="false" flipV="false" rot="0">
              <a:off x="0" y="0"/>
              <a:ext cx="4446725" cy="874186"/>
            </a:xfrm>
            <a:custGeom>
              <a:avLst/>
              <a:gdLst/>
              <a:ahLst/>
              <a:cxnLst/>
              <a:rect r="r" b="b" t="t" l="l"/>
              <a:pathLst>
                <a:path h="874186" w="4446725">
                  <a:moveTo>
                    <a:pt x="16508" y="0"/>
                  </a:moveTo>
                  <a:lnTo>
                    <a:pt x="4430218" y="0"/>
                  </a:lnTo>
                  <a:cubicBezTo>
                    <a:pt x="4434596" y="0"/>
                    <a:pt x="4438794" y="1739"/>
                    <a:pt x="4441890" y="4835"/>
                  </a:cubicBezTo>
                  <a:cubicBezTo>
                    <a:pt x="4444986" y="7931"/>
                    <a:pt x="4446725" y="12130"/>
                    <a:pt x="4446725" y="16508"/>
                  </a:cubicBezTo>
                  <a:lnTo>
                    <a:pt x="4446725" y="857678"/>
                  </a:lnTo>
                  <a:cubicBezTo>
                    <a:pt x="4446725" y="862056"/>
                    <a:pt x="4444986" y="866255"/>
                    <a:pt x="4441890" y="869351"/>
                  </a:cubicBezTo>
                  <a:cubicBezTo>
                    <a:pt x="4438794" y="872447"/>
                    <a:pt x="4434596" y="874186"/>
                    <a:pt x="4430218" y="874186"/>
                  </a:cubicBezTo>
                  <a:lnTo>
                    <a:pt x="16508" y="874186"/>
                  </a:lnTo>
                  <a:cubicBezTo>
                    <a:pt x="12130" y="874186"/>
                    <a:pt x="7931" y="872447"/>
                    <a:pt x="4835" y="869351"/>
                  </a:cubicBezTo>
                  <a:cubicBezTo>
                    <a:pt x="1739" y="866255"/>
                    <a:pt x="0" y="862056"/>
                    <a:pt x="0" y="857678"/>
                  </a:cubicBezTo>
                  <a:lnTo>
                    <a:pt x="0" y="16508"/>
                  </a:lnTo>
                  <a:cubicBezTo>
                    <a:pt x="0" y="12130"/>
                    <a:pt x="1739" y="7931"/>
                    <a:pt x="4835" y="4835"/>
                  </a:cubicBezTo>
                  <a:cubicBezTo>
                    <a:pt x="7931" y="1739"/>
                    <a:pt x="12130" y="0"/>
                    <a:pt x="16508" y="0"/>
                  </a:cubicBezTo>
                  <a:close/>
                </a:path>
              </a:pathLst>
            </a:custGeom>
            <a:solidFill>
              <a:srgbClr val="D1FAE5"/>
            </a:solidFill>
          </p:spPr>
        </p:sp>
        <p:sp>
          <p:nvSpPr>
            <p:cNvPr name="TextBox 4" id="4"/>
            <p:cNvSpPr txBox="true"/>
            <p:nvPr/>
          </p:nvSpPr>
          <p:spPr>
            <a:xfrm>
              <a:off x="0" y="-38100"/>
              <a:ext cx="4446725" cy="912286"/>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2082549" y="4142122"/>
            <a:ext cx="1560088" cy="1343773"/>
          </a:xfrm>
          <a:custGeom>
            <a:avLst/>
            <a:gdLst/>
            <a:ahLst/>
            <a:cxnLst/>
            <a:rect r="r" b="b" t="t" l="l"/>
            <a:pathLst>
              <a:path h="1343773" w="1560088">
                <a:moveTo>
                  <a:pt x="0" y="0"/>
                </a:moveTo>
                <a:lnTo>
                  <a:pt x="1560088" y="0"/>
                </a:lnTo>
                <a:lnTo>
                  <a:pt x="1560088" y="1343773"/>
                </a:lnTo>
                <a:lnTo>
                  <a:pt x="0" y="1343773"/>
                </a:lnTo>
                <a:lnTo>
                  <a:pt x="0" y="0"/>
                </a:lnTo>
                <a:close/>
              </a:path>
            </a:pathLst>
          </a:custGeom>
          <a:blipFill>
            <a:blip r:embed="rId2"/>
            <a:stretch>
              <a:fillRect l="0" t="0" r="0" b="0"/>
            </a:stretch>
          </a:blipFill>
        </p:spPr>
      </p:sp>
      <p:sp>
        <p:nvSpPr>
          <p:cNvPr name="Freeform 6" id="6"/>
          <p:cNvSpPr/>
          <p:nvPr/>
        </p:nvSpPr>
        <p:spPr>
          <a:xfrm flipH="false" flipV="false" rot="0">
            <a:off x="6331068" y="4411764"/>
            <a:ext cx="1239979" cy="1238429"/>
          </a:xfrm>
          <a:custGeom>
            <a:avLst/>
            <a:gdLst/>
            <a:ahLst/>
            <a:cxnLst/>
            <a:rect r="r" b="b" t="t" l="l"/>
            <a:pathLst>
              <a:path h="1238429" w="1239979">
                <a:moveTo>
                  <a:pt x="0" y="0"/>
                </a:moveTo>
                <a:lnTo>
                  <a:pt x="1239979" y="0"/>
                </a:lnTo>
                <a:lnTo>
                  <a:pt x="1239979" y="1238429"/>
                </a:lnTo>
                <a:lnTo>
                  <a:pt x="0" y="1238429"/>
                </a:lnTo>
                <a:lnTo>
                  <a:pt x="0" y="0"/>
                </a:lnTo>
                <a:close/>
              </a:path>
            </a:pathLst>
          </a:custGeom>
          <a:blipFill>
            <a:blip r:embed="rId3"/>
            <a:stretch>
              <a:fillRect l="0" t="0" r="0" b="0"/>
            </a:stretch>
          </a:blipFill>
        </p:spPr>
      </p:sp>
      <p:sp>
        <p:nvSpPr>
          <p:cNvPr name="Freeform 7" id="7"/>
          <p:cNvSpPr/>
          <p:nvPr/>
        </p:nvSpPr>
        <p:spPr>
          <a:xfrm flipH="false" flipV="false" rot="0">
            <a:off x="10229568" y="4238312"/>
            <a:ext cx="1542616" cy="1652021"/>
          </a:xfrm>
          <a:custGeom>
            <a:avLst/>
            <a:gdLst/>
            <a:ahLst/>
            <a:cxnLst/>
            <a:rect r="r" b="b" t="t" l="l"/>
            <a:pathLst>
              <a:path h="1652021" w="1542616">
                <a:moveTo>
                  <a:pt x="0" y="0"/>
                </a:moveTo>
                <a:lnTo>
                  <a:pt x="1542616" y="0"/>
                </a:lnTo>
                <a:lnTo>
                  <a:pt x="1542616" y="1652021"/>
                </a:lnTo>
                <a:lnTo>
                  <a:pt x="0" y="1652021"/>
                </a:lnTo>
                <a:lnTo>
                  <a:pt x="0" y="0"/>
                </a:lnTo>
                <a:close/>
              </a:path>
            </a:pathLst>
          </a:custGeom>
          <a:blipFill>
            <a:blip r:embed="rId4"/>
            <a:stretch>
              <a:fillRect l="0" t="0" r="0" b="0"/>
            </a:stretch>
          </a:blipFill>
        </p:spPr>
      </p:sp>
      <p:sp>
        <p:nvSpPr>
          <p:cNvPr name="Freeform 8" id="8"/>
          <p:cNvSpPr/>
          <p:nvPr/>
        </p:nvSpPr>
        <p:spPr>
          <a:xfrm flipH="false" flipV="false" rot="0">
            <a:off x="14742289" y="4500077"/>
            <a:ext cx="1086857" cy="1367083"/>
          </a:xfrm>
          <a:custGeom>
            <a:avLst/>
            <a:gdLst/>
            <a:ahLst/>
            <a:cxnLst/>
            <a:rect r="r" b="b" t="t" l="l"/>
            <a:pathLst>
              <a:path h="1367083" w="1086857">
                <a:moveTo>
                  <a:pt x="0" y="0"/>
                </a:moveTo>
                <a:lnTo>
                  <a:pt x="1086858" y="0"/>
                </a:lnTo>
                <a:lnTo>
                  <a:pt x="1086858" y="1367083"/>
                </a:lnTo>
                <a:lnTo>
                  <a:pt x="0" y="1367083"/>
                </a:lnTo>
                <a:lnTo>
                  <a:pt x="0" y="0"/>
                </a:lnTo>
                <a:close/>
              </a:path>
            </a:pathLst>
          </a:custGeom>
          <a:blipFill>
            <a:blip r:embed="rId5"/>
            <a:stretch>
              <a:fillRect l="0" t="0" r="0" b="0"/>
            </a:stretch>
          </a:blipFill>
        </p:spPr>
      </p:sp>
      <p:sp>
        <p:nvSpPr>
          <p:cNvPr name="Freeform 9" id="9"/>
          <p:cNvSpPr/>
          <p:nvPr/>
        </p:nvSpPr>
        <p:spPr>
          <a:xfrm flipH="false" flipV="false" rot="0">
            <a:off x="13233021" y="1028700"/>
            <a:ext cx="4026279" cy="1310371"/>
          </a:xfrm>
          <a:custGeom>
            <a:avLst/>
            <a:gdLst/>
            <a:ahLst/>
            <a:cxnLst/>
            <a:rect r="r" b="b" t="t" l="l"/>
            <a:pathLst>
              <a:path h="1310371" w="4026279">
                <a:moveTo>
                  <a:pt x="0" y="0"/>
                </a:moveTo>
                <a:lnTo>
                  <a:pt x="4026279" y="0"/>
                </a:lnTo>
                <a:lnTo>
                  <a:pt x="4026279" y="1310371"/>
                </a:lnTo>
                <a:lnTo>
                  <a:pt x="0" y="13103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028700" y="857250"/>
            <a:ext cx="8312264" cy="1631911"/>
          </a:xfrm>
          <a:prstGeom prst="rect">
            <a:avLst/>
          </a:prstGeom>
        </p:spPr>
        <p:txBody>
          <a:bodyPr anchor="t" rtlCol="false" tIns="0" lIns="0" bIns="0" rIns="0">
            <a:spAutoFit/>
          </a:bodyPr>
          <a:lstStyle/>
          <a:p>
            <a:pPr algn="l" marL="0" indent="0" lvl="0">
              <a:lnSpc>
                <a:spcPts val="13477"/>
              </a:lnSpc>
            </a:pPr>
            <a:r>
              <a:rPr lang="en-US" b="true" sz="9626">
                <a:solidFill>
                  <a:srgbClr val="1F1F1F"/>
                </a:solidFill>
                <a:latin typeface="Montserrat Bold"/>
                <a:ea typeface="Montserrat Bold"/>
                <a:cs typeface="Montserrat Bold"/>
                <a:sym typeface="Montserrat Bold"/>
              </a:rPr>
              <a:t>Key Findings</a:t>
            </a:r>
          </a:p>
        </p:txBody>
      </p:sp>
      <p:sp>
        <p:nvSpPr>
          <p:cNvPr name="TextBox 11" id="11"/>
          <p:cNvSpPr txBox="true"/>
          <p:nvPr/>
        </p:nvSpPr>
        <p:spPr>
          <a:xfrm rot="0">
            <a:off x="1226969" y="6338364"/>
            <a:ext cx="3733319" cy="850945"/>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Validation vs Real-World Gap</a:t>
            </a:r>
          </a:p>
        </p:txBody>
      </p:sp>
      <p:sp>
        <p:nvSpPr>
          <p:cNvPr name="TextBox 12" id="12"/>
          <p:cNvSpPr txBox="true"/>
          <p:nvPr/>
        </p:nvSpPr>
        <p:spPr>
          <a:xfrm rot="0">
            <a:off x="5433373" y="6338364"/>
            <a:ext cx="3064118" cy="850945"/>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Temporal Modeling Matters</a:t>
            </a:r>
          </a:p>
        </p:txBody>
      </p:sp>
      <p:sp>
        <p:nvSpPr>
          <p:cNvPr name="TextBox 13" id="13"/>
          <p:cNvSpPr txBox="true"/>
          <p:nvPr/>
        </p:nvSpPr>
        <p:spPr>
          <a:xfrm rot="0">
            <a:off x="9340964" y="6338364"/>
            <a:ext cx="3241326" cy="412795"/>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Architecture Impact</a:t>
            </a:r>
          </a:p>
        </p:txBody>
      </p:sp>
      <p:sp>
        <p:nvSpPr>
          <p:cNvPr name="TextBox 14" id="14"/>
          <p:cNvSpPr txBox="true"/>
          <p:nvPr/>
        </p:nvSpPr>
        <p:spPr>
          <a:xfrm rot="0">
            <a:off x="13852511" y="6338364"/>
            <a:ext cx="2880989" cy="412795"/>
          </a:xfrm>
          <a:prstGeom prst="rect">
            <a:avLst/>
          </a:prstGeom>
        </p:spPr>
        <p:txBody>
          <a:bodyPr anchor="t" rtlCol="false" tIns="0" lIns="0" bIns="0" rIns="0">
            <a:spAutoFit/>
          </a:bodyPr>
          <a:lstStyle/>
          <a:p>
            <a:pPr algn="ctr" marL="0" indent="0" lvl="0">
              <a:lnSpc>
                <a:spcPts val="3497"/>
              </a:lnSpc>
              <a:spcBef>
                <a:spcPct val="0"/>
              </a:spcBef>
            </a:pPr>
            <a:r>
              <a:rPr lang="en-US" b="true" sz="2498">
                <a:solidFill>
                  <a:srgbClr val="6B7280"/>
                </a:solidFill>
                <a:latin typeface="Inter Bold"/>
                <a:ea typeface="Inter Bold"/>
                <a:cs typeface="Inter Bold"/>
                <a:sym typeface="Inter Bold"/>
              </a:rPr>
              <a:t>Model Stability</a:t>
            </a:r>
          </a:p>
        </p:txBody>
      </p:sp>
      <p:sp>
        <p:nvSpPr>
          <p:cNvPr name="TextBox 15" id="15"/>
          <p:cNvSpPr txBox="true"/>
          <p:nvPr/>
        </p:nvSpPr>
        <p:spPr>
          <a:xfrm rot="0">
            <a:off x="1226969" y="7460423"/>
            <a:ext cx="3465149" cy="1071463"/>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Inter"/>
                <a:ea typeface="Inter"/>
                <a:cs typeface="Inter"/>
                <a:sym typeface="Inter"/>
              </a:rPr>
              <a:t>Higher validation accuracy does not guarantee better real-world performance.</a:t>
            </a:r>
          </a:p>
        </p:txBody>
      </p:sp>
      <p:sp>
        <p:nvSpPr>
          <p:cNvPr name="TextBox 16" id="16"/>
          <p:cNvSpPr txBox="true"/>
          <p:nvPr/>
        </p:nvSpPr>
        <p:spPr>
          <a:xfrm rot="0">
            <a:off x="5433373" y="7460423"/>
            <a:ext cx="3064118" cy="1071463"/>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Inter"/>
                <a:ea typeface="Inter"/>
                <a:cs typeface="Inter"/>
                <a:sym typeface="Inter"/>
              </a:rPr>
              <a:t>Sequential dependencies are critical for activity recognition.</a:t>
            </a:r>
          </a:p>
        </p:txBody>
      </p:sp>
      <p:sp>
        <p:nvSpPr>
          <p:cNvPr name="TextBox 17" id="17"/>
          <p:cNvSpPr txBox="true"/>
          <p:nvPr/>
        </p:nvSpPr>
        <p:spPr>
          <a:xfrm rot="0">
            <a:off x="9635353" y="7460423"/>
            <a:ext cx="2652548" cy="709513"/>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Inter"/>
                <a:ea typeface="Inter"/>
                <a:cs typeface="Inter"/>
                <a:sym typeface="Inter"/>
              </a:rPr>
              <a:t>Design choices affect confusion patterns.</a:t>
            </a:r>
          </a:p>
        </p:txBody>
      </p:sp>
      <p:sp>
        <p:nvSpPr>
          <p:cNvPr name="TextBox 18" id="18"/>
          <p:cNvSpPr txBox="true"/>
          <p:nvPr/>
        </p:nvSpPr>
        <p:spPr>
          <a:xfrm rot="0">
            <a:off x="13966731" y="7460423"/>
            <a:ext cx="2652548" cy="1071463"/>
          </a:xfrm>
          <a:prstGeom prst="rect">
            <a:avLst/>
          </a:prstGeom>
        </p:spPr>
        <p:txBody>
          <a:bodyPr anchor="t" rtlCol="false" tIns="0" lIns="0" bIns="0" rIns="0">
            <a:spAutoFit/>
          </a:bodyPr>
          <a:lstStyle/>
          <a:p>
            <a:pPr algn="ctr" marL="0" indent="0" lvl="0">
              <a:lnSpc>
                <a:spcPts val="2892"/>
              </a:lnSpc>
              <a:spcBef>
                <a:spcPct val="0"/>
              </a:spcBef>
            </a:pPr>
            <a:r>
              <a:rPr lang="en-US" sz="2066">
                <a:solidFill>
                  <a:srgbClr val="6B7280"/>
                </a:solidFill>
                <a:latin typeface="Inter"/>
                <a:ea typeface="Inter"/>
                <a:cs typeface="Inter"/>
                <a:sym typeface="Inter"/>
              </a:rPr>
              <a:t>LSTM shows more consistent temporal behavior.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7458603" y="6178452"/>
            <a:ext cx="8950467" cy="3079848"/>
            <a:chOff x="0" y="0"/>
            <a:chExt cx="2357325" cy="811153"/>
          </a:xfrm>
        </p:grpSpPr>
        <p:sp>
          <p:nvSpPr>
            <p:cNvPr name="Freeform 3" id="3"/>
            <p:cNvSpPr/>
            <p:nvPr/>
          </p:nvSpPr>
          <p:spPr>
            <a:xfrm flipH="false" flipV="false" rot="0">
              <a:off x="0" y="0"/>
              <a:ext cx="2357325" cy="811153"/>
            </a:xfrm>
            <a:custGeom>
              <a:avLst/>
              <a:gdLst/>
              <a:ahLst/>
              <a:cxnLst/>
              <a:rect r="r" b="b" t="t" l="l"/>
              <a:pathLst>
                <a:path h="811153" w="2357325">
                  <a:moveTo>
                    <a:pt x="31139" y="0"/>
                  </a:moveTo>
                  <a:lnTo>
                    <a:pt x="2326186" y="0"/>
                  </a:lnTo>
                  <a:cubicBezTo>
                    <a:pt x="2334444" y="0"/>
                    <a:pt x="2342365" y="3281"/>
                    <a:pt x="2348204" y="9120"/>
                  </a:cubicBezTo>
                  <a:cubicBezTo>
                    <a:pt x="2354044" y="14960"/>
                    <a:pt x="2357325" y="22880"/>
                    <a:pt x="2357325" y="31139"/>
                  </a:cubicBezTo>
                  <a:lnTo>
                    <a:pt x="2357325" y="780014"/>
                  </a:lnTo>
                  <a:cubicBezTo>
                    <a:pt x="2357325" y="788273"/>
                    <a:pt x="2354044" y="796193"/>
                    <a:pt x="2348204" y="802033"/>
                  </a:cubicBezTo>
                  <a:cubicBezTo>
                    <a:pt x="2342365" y="807873"/>
                    <a:pt x="2334444" y="811153"/>
                    <a:pt x="2326186" y="811153"/>
                  </a:cubicBezTo>
                  <a:lnTo>
                    <a:pt x="31139" y="811153"/>
                  </a:lnTo>
                  <a:cubicBezTo>
                    <a:pt x="22880" y="811153"/>
                    <a:pt x="14960" y="807873"/>
                    <a:pt x="9120" y="802033"/>
                  </a:cubicBezTo>
                  <a:cubicBezTo>
                    <a:pt x="3281" y="796193"/>
                    <a:pt x="0" y="788273"/>
                    <a:pt x="0" y="780014"/>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849253"/>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086262" y="5090115"/>
            <a:ext cx="5201902" cy="3842905"/>
          </a:xfrm>
          <a:custGeom>
            <a:avLst/>
            <a:gdLst/>
            <a:ahLst/>
            <a:cxnLst/>
            <a:rect r="r" b="b" t="t" l="l"/>
            <a:pathLst>
              <a:path h="3842905" w="5201902">
                <a:moveTo>
                  <a:pt x="0" y="0"/>
                </a:moveTo>
                <a:lnTo>
                  <a:pt x="5201902" y="0"/>
                </a:lnTo>
                <a:lnTo>
                  <a:pt x="5201902" y="3842905"/>
                </a:lnTo>
                <a:lnTo>
                  <a:pt x="0" y="3842905"/>
                </a:lnTo>
                <a:lnTo>
                  <a:pt x="0" y="0"/>
                </a:lnTo>
                <a:close/>
              </a:path>
            </a:pathLst>
          </a:custGeom>
          <a:blipFill>
            <a:blip r:embed="rId2"/>
            <a:stretch>
              <a:fillRect l="0" t="0" r="0" b="0"/>
            </a:stretch>
          </a:blipFill>
        </p:spPr>
      </p:sp>
      <p:sp>
        <p:nvSpPr>
          <p:cNvPr name="Freeform 6" id="6"/>
          <p:cNvSpPr/>
          <p:nvPr/>
        </p:nvSpPr>
        <p:spPr>
          <a:xfrm flipH="false" flipV="false" rot="0">
            <a:off x="1028700" y="-403164"/>
            <a:ext cx="3722090" cy="3607043"/>
          </a:xfrm>
          <a:custGeom>
            <a:avLst/>
            <a:gdLst/>
            <a:ahLst/>
            <a:cxnLst/>
            <a:rect r="r" b="b" t="t" l="l"/>
            <a:pathLst>
              <a:path h="3607043" w="3722090">
                <a:moveTo>
                  <a:pt x="0" y="0"/>
                </a:moveTo>
                <a:lnTo>
                  <a:pt x="3722090" y="0"/>
                </a:lnTo>
                <a:lnTo>
                  <a:pt x="3722090" y="3607043"/>
                </a:lnTo>
                <a:lnTo>
                  <a:pt x="0" y="360704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7458603" y="904875"/>
            <a:ext cx="9238080" cy="1111608"/>
          </a:xfrm>
          <a:prstGeom prst="rect">
            <a:avLst/>
          </a:prstGeom>
        </p:spPr>
        <p:txBody>
          <a:bodyPr anchor="t" rtlCol="false" tIns="0" lIns="0" bIns="0" rIns="0">
            <a:spAutoFit/>
          </a:bodyPr>
          <a:lstStyle/>
          <a:p>
            <a:pPr algn="l" marL="0" indent="0" lvl="0">
              <a:lnSpc>
                <a:spcPts val="9080"/>
              </a:lnSpc>
            </a:pPr>
            <a:r>
              <a:rPr lang="en-US" b="true" sz="6485">
                <a:solidFill>
                  <a:srgbClr val="1F1F1F"/>
                </a:solidFill>
                <a:latin typeface="Montserrat Bold"/>
                <a:ea typeface="Montserrat Bold"/>
                <a:cs typeface="Montserrat Bold"/>
                <a:sym typeface="Montserrat Bold"/>
              </a:rPr>
              <a:t>Streamlit Application</a:t>
            </a:r>
          </a:p>
        </p:txBody>
      </p:sp>
      <p:sp>
        <p:nvSpPr>
          <p:cNvPr name="TextBox 8" id="8"/>
          <p:cNvSpPr txBox="true"/>
          <p:nvPr/>
        </p:nvSpPr>
        <p:spPr>
          <a:xfrm rot="0">
            <a:off x="8766777" y="2070160"/>
            <a:ext cx="8492523" cy="1111608"/>
          </a:xfrm>
          <a:prstGeom prst="rect">
            <a:avLst/>
          </a:prstGeom>
        </p:spPr>
        <p:txBody>
          <a:bodyPr anchor="t" rtlCol="false" tIns="0" lIns="0" bIns="0" rIns="0">
            <a:spAutoFit/>
          </a:bodyPr>
          <a:lstStyle/>
          <a:p>
            <a:pPr algn="l" marL="0" indent="0" lvl="0">
              <a:lnSpc>
                <a:spcPts val="9080"/>
              </a:lnSpc>
            </a:pPr>
            <a:r>
              <a:rPr lang="en-US" b="true" sz="6485">
                <a:solidFill>
                  <a:srgbClr val="10B981"/>
                </a:solidFill>
                <a:latin typeface="Montserrat Bold"/>
                <a:ea typeface="Montserrat Bold"/>
                <a:cs typeface="Montserrat Bold"/>
                <a:sym typeface="Montserrat Bold"/>
              </a:rPr>
              <a:t>Demo</a:t>
            </a:r>
          </a:p>
        </p:txBody>
      </p:sp>
      <p:sp>
        <p:nvSpPr>
          <p:cNvPr name="TextBox 9" id="9"/>
          <p:cNvSpPr txBox="true"/>
          <p:nvPr/>
        </p:nvSpPr>
        <p:spPr>
          <a:xfrm rot="0">
            <a:off x="8254112" y="6815990"/>
            <a:ext cx="7359449" cy="1702440"/>
          </a:xfrm>
          <a:prstGeom prst="rect">
            <a:avLst/>
          </a:prstGeom>
        </p:spPr>
        <p:txBody>
          <a:bodyPr anchor="t" rtlCol="false" tIns="0" lIns="0" bIns="0" rIns="0">
            <a:spAutoFit/>
          </a:bodyPr>
          <a:lstStyle/>
          <a:p>
            <a:pPr algn="l" marL="0" indent="0" lvl="0">
              <a:lnSpc>
                <a:spcPts val="2764"/>
              </a:lnSpc>
              <a:spcBef>
                <a:spcPct val="0"/>
              </a:spcBef>
            </a:pPr>
            <a:r>
              <a:rPr lang="en-US" sz="1974">
                <a:solidFill>
                  <a:srgbClr val="6B7280"/>
                </a:solidFill>
                <a:latin typeface="Inter"/>
                <a:ea typeface="Inter"/>
                <a:cs typeface="Inter"/>
                <a:sym typeface="Inter"/>
              </a:rPr>
              <a:t>The interactive Streamlit application enables live HAR predictions, real-time signal visualization, and interactive sample selection. Users can explore how deep learning models classify activities, demonstrating practical integration of HAR technology.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11947402" y="1578816"/>
            <a:ext cx="5311898" cy="7679484"/>
            <a:chOff x="0" y="0"/>
            <a:chExt cx="1399019" cy="2022580"/>
          </a:xfrm>
        </p:grpSpPr>
        <p:sp>
          <p:nvSpPr>
            <p:cNvPr name="Freeform 3" id="3"/>
            <p:cNvSpPr/>
            <p:nvPr/>
          </p:nvSpPr>
          <p:spPr>
            <a:xfrm flipH="false" flipV="false" rot="0">
              <a:off x="0" y="0"/>
              <a:ext cx="1399018" cy="2022580"/>
            </a:xfrm>
            <a:custGeom>
              <a:avLst/>
              <a:gdLst/>
              <a:ahLst/>
              <a:cxnLst/>
              <a:rect r="r" b="b" t="t" l="l"/>
              <a:pathLst>
                <a:path h="2022580" w="1399018">
                  <a:moveTo>
                    <a:pt x="52469" y="0"/>
                  </a:moveTo>
                  <a:lnTo>
                    <a:pt x="1346550" y="0"/>
                  </a:lnTo>
                  <a:cubicBezTo>
                    <a:pt x="1360465" y="0"/>
                    <a:pt x="1373811" y="5528"/>
                    <a:pt x="1383651" y="15368"/>
                  </a:cubicBezTo>
                  <a:cubicBezTo>
                    <a:pt x="1393491" y="25208"/>
                    <a:pt x="1399018" y="38553"/>
                    <a:pt x="1399018" y="52469"/>
                  </a:cubicBezTo>
                  <a:lnTo>
                    <a:pt x="1399018" y="1970111"/>
                  </a:lnTo>
                  <a:cubicBezTo>
                    <a:pt x="1399018" y="1984027"/>
                    <a:pt x="1393491" y="1997372"/>
                    <a:pt x="1383651" y="2007212"/>
                  </a:cubicBezTo>
                  <a:cubicBezTo>
                    <a:pt x="1373811" y="2017052"/>
                    <a:pt x="1360465" y="2022580"/>
                    <a:pt x="1346550" y="2022580"/>
                  </a:cubicBezTo>
                  <a:lnTo>
                    <a:pt x="52469" y="2022580"/>
                  </a:lnTo>
                  <a:cubicBezTo>
                    <a:pt x="38553" y="2022580"/>
                    <a:pt x="25208" y="2017052"/>
                    <a:pt x="15368" y="2007212"/>
                  </a:cubicBezTo>
                  <a:cubicBezTo>
                    <a:pt x="5528" y="1997372"/>
                    <a:pt x="0" y="1984027"/>
                    <a:pt x="0" y="1970111"/>
                  </a:cubicBezTo>
                  <a:lnTo>
                    <a:pt x="0" y="52469"/>
                  </a:lnTo>
                  <a:cubicBezTo>
                    <a:pt x="0" y="38553"/>
                    <a:pt x="5528" y="25208"/>
                    <a:pt x="15368" y="15368"/>
                  </a:cubicBezTo>
                  <a:cubicBezTo>
                    <a:pt x="25208" y="5528"/>
                    <a:pt x="38553" y="0"/>
                    <a:pt x="52469" y="0"/>
                  </a:cubicBezTo>
                  <a:close/>
                </a:path>
              </a:pathLst>
            </a:custGeom>
            <a:solidFill>
              <a:srgbClr val="D1FAE5"/>
            </a:solidFill>
          </p:spPr>
        </p:sp>
        <p:sp>
          <p:nvSpPr>
            <p:cNvPr name="TextBox 4" id="4"/>
            <p:cNvSpPr txBox="true"/>
            <p:nvPr/>
          </p:nvSpPr>
          <p:spPr>
            <a:xfrm>
              <a:off x="0" y="-38100"/>
              <a:ext cx="1399019" cy="2060680"/>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10630553" y="1945897"/>
            <a:ext cx="827248" cy="1354641"/>
          </a:xfrm>
          <a:custGeom>
            <a:avLst/>
            <a:gdLst/>
            <a:ahLst/>
            <a:cxnLst/>
            <a:rect r="r" b="b" t="t" l="l"/>
            <a:pathLst>
              <a:path h="1354641" w="827248">
                <a:moveTo>
                  <a:pt x="0" y="0"/>
                </a:moveTo>
                <a:lnTo>
                  <a:pt x="827248" y="0"/>
                </a:lnTo>
                <a:lnTo>
                  <a:pt x="827248" y="1354641"/>
                </a:lnTo>
                <a:lnTo>
                  <a:pt x="0" y="1354641"/>
                </a:lnTo>
                <a:lnTo>
                  <a:pt x="0" y="0"/>
                </a:lnTo>
                <a:close/>
              </a:path>
            </a:pathLst>
          </a:custGeom>
          <a:blipFill>
            <a:blip r:embed="rId2"/>
            <a:stretch>
              <a:fillRect l="0" t="0" r="0" b="0"/>
            </a:stretch>
          </a:blipFill>
        </p:spPr>
      </p:sp>
      <p:sp>
        <p:nvSpPr>
          <p:cNvPr name="Freeform 6" id="6"/>
          <p:cNvSpPr/>
          <p:nvPr/>
        </p:nvSpPr>
        <p:spPr>
          <a:xfrm flipH="false" flipV="false" rot="0">
            <a:off x="10480859" y="3749576"/>
            <a:ext cx="1302627" cy="1281273"/>
          </a:xfrm>
          <a:custGeom>
            <a:avLst/>
            <a:gdLst/>
            <a:ahLst/>
            <a:cxnLst/>
            <a:rect r="r" b="b" t="t" l="l"/>
            <a:pathLst>
              <a:path h="1281273" w="1302627">
                <a:moveTo>
                  <a:pt x="0" y="0"/>
                </a:moveTo>
                <a:lnTo>
                  <a:pt x="1302627" y="0"/>
                </a:lnTo>
                <a:lnTo>
                  <a:pt x="1302627" y="1281272"/>
                </a:lnTo>
                <a:lnTo>
                  <a:pt x="0" y="1281272"/>
                </a:lnTo>
                <a:lnTo>
                  <a:pt x="0" y="0"/>
                </a:lnTo>
                <a:close/>
              </a:path>
            </a:pathLst>
          </a:custGeom>
          <a:blipFill>
            <a:blip r:embed="rId3"/>
            <a:stretch>
              <a:fillRect l="0" t="0" r="0" b="0"/>
            </a:stretch>
          </a:blipFill>
        </p:spPr>
      </p:sp>
      <p:sp>
        <p:nvSpPr>
          <p:cNvPr name="Freeform 7" id="7"/>
          <p:cNvSpPr/>
          <p:nvPr/>
        </p:nvSpPr>
        <p:spPr>
          <a:xfrm flipH="false" flipV="false" rot="0">
            <a:off x="10694014" y="5991626"/>
            <a:ext cx="892401" cy="872322"/>
          </a:xfrm>
          <a:custGeom>
            <a:avLst/>
            <a:gdLst/>
            <a:ahLst/>
            <a:cxnLst/>
            <a:rect r="r" b="b" t="t" l="l"/>
            <a:pathLst>
              <a:path h="872322" w="892401">
                <a:moveTo>
                  <a:pt x="0" y="0"/>
                </a:moveTo>
                <a:lnTo>
                  <a:pt x="892400" y="0"/>
                </a:lnTo>
                <a:lnTo>
                  <a:pt x="892400" y="872321"/>
                </a:lnTo>
                <a:lnTo>
                  <a:pt x="0" y="872321"/>
                </a:lnTo>
                <a:lnTo>
                  <a:pt x="0" y="0"/>
                </a:lnTo>
                <a:close/>
              </a:path>
            </a:pathLst>
          </a:custGeom>
          <a:blipFill>
            <a:blip r:embed="rId4"/>
            <a:stretch>
              <a:fillRect l="0" t="0" r="0" b="0"/>
            </a:stretch>
          </a:blipFill>
        </p:spPr>
      </p:sp>
      <p:sp>
        <p:nvSpPr>
          <p:cNvPr name="Freeform 8" id="8"/>
          <p:cNvSpPr/>
          <p:nvPr/>
        </p:nvSpPr>
        <p:spPr>
          <a:xfrm flipH="false" flipV="false" rot="0">
            <a:off x="10649606" y="7805975"/>
            <a:ext cx="882339" cy="885361"/>
          </a:xfrm>
          <a:custGeom>
            <a:avLst/>
            <a:gdLst/>
            <a:ahLst/>
            <a:cxnLst/>
            <a:rect r="r" b="b" t="t" l="l"/>
            <a:pathLst>
              <a:path h="885361" w="882339">
                <a:moveTo>
                  <a:pt x="0" y="0"/>
                </a:moveTo>
                <a:lnTo>
                  <a:pt x="882339" y="0"/>
                </a:lnTo>
                <a:lnTo>
                  <a:pt x="882339" y="885360"/>
                </a:lnTo>
                <a:lnTo>
                  <a:pt x="0" y="885360"/>
                </a:lnTo>
                <a:lnTo>
                  <a:pt x="0" y="0"/>
                </a:lnTo>
                <a:close/>
              </a:path>
            </a:pathLst>
          </a:custGeom>
          <a:blipFill>
            <a:blip r:embed="rId5"/>
            <a:stretch>
              <a:fillRect l="0" t="0" r="0" b="0"/>
            </a:stretch>
          </a:blipFill>
        </p:spPr>
      </p:sp>
      <p:sp>
        <p:nvSpPr>
          <p:cNvPr name="Freeform 9" id="9"/>
          <p:cNvSpPr/>
          <p:nvPr/>
        </p:nvSpPr>
        <p:spPr>
          <a:xfrm flipH="false" flipV="false" rot="0">
            <a:off x="1013919" y="5141786"/>
            <a:ext cx="4448403" cy="3920001"/>
          </a:xfrm>
          <a:custGeom>
            <a:avLst/>
            <a:gdLst/>
            <a:ahLst/>
            <a:cxnLst/>
            <a:rect r="r" b="b" t="t" l="l"/>
            <a:pathLst>
              <a:path h="3920001" w="4448403">
                <a:moveTo>
                  <a:pt x="0" y="0"/>
                </a:moveTo>
                <a:lnTo>
                  <a:pt x="4448403" y="0"/>
                </a:lnTo>
                <a:lnTo>
                  <a:pt x="4448403" y="3920002"/>
                </a:lnTo>
                <a:lnTo>
                  <a:pt x="0" y="3920002"/>
                </a:lnTo>
                <a:lnTo>
                  <a:pt x="0" y="0"/>
                </a:lnTo>
                <a:close/>
              </a:path>
            </a:pathLst>
          </a:custGeom>
          <a:blipFill>
            <a:blip r:embed="rId6"/>
            <a:stretch>
              <a:fillRect l="0" t="0" r="0" b="0"/>
            </a:stretch>
          </a:blipFill>
        </p:spPr>
      </p:sp>
      <p:sp>
        <p:nvSpPr>
          <p:cNvPr name="TextBox 10" id="10"/>
          <p:cNvSpPr txBox="true"/>
          <p:nvPr/>
        </p:nvSpPr>
        <p:spPr>
          <a:xfrm rot="0">
            <a:off x="1028700" y="847725"/>
            <a:ext cx="8312264" cy="1698805"/>
          </a:xfrm>
          <a:prstGeom prst="rect">
            <a:avLst/>
          </a:prstGeom>
        </p:spPr>
        <p:txBody>
          <a:bodyPr anchor="t" rtlCol="false" tIns="0" lIns="0" bIns="0" rIns="0">
            <a:spAutoFit/>
          </a:bodyPr>
          <a:lstStyle/>
          <a:p>
            <a:pPr algn="l" marL="0" indent="0" lvl="0">
              <a:lnSpc>
                <a:spcPts val="13990"/>
              </a:lnSpc>
            </a:pPr>
            <a:r>
              <a:rPr lang="en-US" b="true" sz="9992">
                <a:solidFill>
                  <a:srgbClr val="1F1F1F"/>
                </a:solidFill>
                <a:latin typeface="Montserrat Bold"/>
                <a:ea typeface="Montserrat Bold"/>
                <a:cs typeface="Montserrat Bold"/>
                <a:sym typeface="Montserrat Bold"/>
              </a:rPr>
              <a:t>Future</a:t>
            </a:r>
          </a:p>
        </p:txBody>
      </p:sp>
      <p:sp>
        <p:nvSpPr>
          <p:cNvPr name="TextBox 11" id="11"/>
          <p:cNvSpPr txBox="true"/>
          <p:nvPr/>
        </p:nvSpPr>
        <p:spPr>
          <a:xfrm rot="0">
            <a:off x="1411059" y="2013010"/>
            <a:ext cx="8492523" cy="1698805"/>
          </a:xfrm>
          <a:prstGeom prst="rect">
            <a:avLst/>
          </a:prstGeom>
        </p:spPr>
        <p:txBody>
          <a:bodyPr anchor="t" rtlCol="false" tIns="0" lIns="0" bIns="0" rIns="0">
            <a:spAutoFit/>
          </a:bodyPr>
          <a:lstStyle/>
          <a:p>
            <a:pPr algn="l" marL="0" indent="0" lvl="0">
              <a:lnSpc>
                <a:spcPts val="13990"/>
              </a:lnSpc>
            </a:pPr>
            <a:r>
              <a:rPr lang="en-US" b="true" sz="9992">
                <a:solidFill>
                  <a:srgbClr val="10B981"/>
                </a:solidFill>
                <a:latin typeface="Montserrat Bold"/>
                <a:ea typeface="Montserrat Bold"/>
                <a:cs typeface="Montserrat Bold"/>
                <a:sym typeface="Montserrat Bold"/>
              </a:rPr>
              <a:t>Work</a:t>
            </a:r>
          </a:p>
        </p:txBody>
      </p:sp>
      <p:sp>
        <p:nvSpPr>
          <p:cNvPr name="TextBox 12" id="12"/>
          <p:cNvSpPr txBox="true"/>
          <p:nvPr/>
        </p:nvSpPr>
        <p:spPr>
          <a:xfrm rot="0">
            <a:off x="12376936" y="2020201"/>
            <a:ext cx="3733319" cy="397401"/>
          </a:xfrm>
          <a:prstGeom prst="rect">
            <a:avLst/>
          </a:prstGeom>
        </p:spPr>
        <p:txBody>
          <a:bodyPr anchor="t" rtlCol="false" tIns="0" lIns="0" bIns="0" rIns="0">
            <a:spAutoFit/>
          </a:bodyPr>
          <a:lstStyle/>
          <a:p>
            <a:pPr algn="just" marL="0" indent="0" lvl="0">
              <a:lnSpc>
                <a:spcPts val="3296"/>
              </a:lnSpc>
              <a:spcBef>
                <a:spcPct val="0"/>
              </a:spcBef>
            </a:pPr>
            <a:r>
              <a:rPr lang="en-US" b="true" sz="2354">
                <a:solidFill>
                  <a:srgbClr val="6B7280"/>
                </a:solidFill>
                <a:latin typeface="Inter Bold"/>
                <a:ea typeface="Inter Bold"/>
                <a:cs typeface="Inter Bold"/>
                <a:sym typeface="Inter Bold"/>
              </a:rPr>
              <a:t>Real-time Wearable AI</a:t>
            </a:r>
          </a:p>
        </p:txBody>
      </p:sp>
      <p:sp>
        <p:nvSpPr>
          <p:cNvPr name="TextBox 13" id="13"/>
          <p:cNvSpPr txBox="true"/>
          <p:nvPr/>
        </p:nvSpPr>
        <p:spPr>
          <a:xfrm rot="0">
            <a:off x="12376936" y="3790140"/>
            <a:ext cx="3733319" cy="397401"/>
          </a:xfrm>
          <a:prstGeom prst="rect">
            <a:avLst/>
          </a:prstGeom>
        </p:spPr>
        <p:txBody>
          <a:bodyPr anchor="t" rtlCol="false" tIns="0" lIns="0" bIns="0" rIns="0">
            <a:spAutoFit/>
          </a:bodyPr>
          <a:lstStyle/>
          <a:p>
            <a:pPr algn="just" marL="0" indent="0" lvl="0">
              <a:lnSpc>
                <a:spcPts val="3296"/>
              </a:lnSpc>
              <a:spcBef>
                <a:spcPct val="0"/>
              </a:spcBef>
            </a:pPr>
            <a:r>
              <a:rPr lang="en-US" b="true" sz="2354">
                <a:solidFill>
                  <a:srgbClr val="6B7280"/>
                </a:solidFill>
                <a:latin typeface="Inter Bold"/>
                <a:ea typeface="Inter Bold"/>
                <a:cs typeface="Inter Bold"/>
                <a:sym typeface="Inter Bold"/>
              </a:rPr>
              <a:t>Rehabilitation Integration</a:t>
            </a:r>
          </a:p>
        </p:txBody>
      </p:sp>
      <p:sp>
        <p:nvSpPr>
          <p:cNvPr name="TextBox 14" id="14"/>
          <p:cNvSpPr txBox="true"/>
          <p:nvPr/>
        </p:nvSpPr>
        <p:spPr>
          <a:xfrm rot="0">
            <a:off x="12376936" y="5561791"/>
            <a:ext cx="3733319" cy="397401"/>
          </a:xfrm>
          <a:prstGeom prst="rect">
            <a:avLst/>
          </a:prstGeom>
        </p:spPr>
        <p:txBody>
          <a:bodyPr anchor="t" rtlCol="false" tIns="0" lIns="0" bIns="0" rIns="0">
            <a:spAutoFit/>
          </a:bodyPr>
          <a:lstStyle/>
          <a:p>
            <a:pPr algn="just" marL="0" indent="0" lvl="0">
              <a:lnSpc>
                <a:spcPts val="3296"/>
              </a:lnSpc>
              <a:spcBef>
                <a:spcPct val="0"/>
              </a:spcBef>
            </a:pPr>
            <a:r>
              <a:rPr lang="en-US" b="true" sz="2354">
                <a:solidFill>
                  <a:srgbClr val="6B7280"/>
                </a:solidFill>
                <a:latin typeface="Inter Bold"/>
                <a:ea typeface="Inter Bold"/>
                <a:cs typeface="Inter Bold"/>
                <a:sym typeface="Inter Bold"/>
              </a:rPr>
              <a:t>Sensor Fusion</a:t>
            </a:r>
          </a:p>
        </p:txBody>
      </p:sp>
      <p:sp>
        <p:nvSpPr>
          <p:cNvPr name="TextBox 15" id="15"/>
          <p:cNvSpPr txBox="true"/>
          <p:nvPr/>
        </p:nvSpPr>
        <p:spPr>
          <a:xfrm rot="0">
            <a:off x="12376936" y="7333441"/>
            <a:ext cx="3733319" cy="397401"/>
          </a:xfrm>
          <a:prstGeom prst="rect">
            <a:avLst/>
          </a:prstGeom>
        </p:spPr>
        <p:txBody>
          <a:bodyPr anchor="t" rtlCol="false" tIns="0" lIns="0" bIns="0" rIns="0">
            <a:spAutoFit/>
          </a:bodyPr>
          <a:lstStyle/>
          <a:p>
            <a:pPr algn="just" marL="0" indent="0" lvl="0">
              <a:lnSpc>
                <a:spcPts val="3296"/>
              </a:lnSpc>
              <a:spcBef>
                <a:spcPct val="0"/>
              </a:spcBef>
            </a:pPr>
            <a:r>
              <a:rPr lang="en-US" b="true" sz="2354">
                <a:solidFill>
                  <a:srgbClr val="6B7280"/>
                </a:solidFill>
                <a:latin typeface="Inter Bold"/>
                <a:ea typeface="Inter Bold"/>
                <a:cs typeface="Inter Bold"/>
                <a:sym typeface="Inter Bold"/>
              </a:rPr>
              <a:t>Cognitive-Motor Analysis</a:t>
            </a:r>
          </a:p>
        </p:txBody>
      </p:sp>
      <p:sp>
        <p:nvSpPr>
          <p:cNvPr name="TextBox 16" id="16"/>
          <p:cNvSpPr txBox="true"/>
          <p:nvPr/>
        </p:nvSpPr>
        <p:spPr>
          <a:xfrm rot="0">
            <a:off x="12376936" y="2569477"/>
            <a:ext cx="4147352" cy="709181"/>
          </a:xfrm>
          <a:prstGeom prst="rect">
            <a:avLst/>
          </a:prstGeom>
        </p:spPr>
        <p:txBody>
          <a:bodyPr anchor="t" rtlCol="false" tIns="0" lIns="0" bIns="0" rIns="0">
            <a:spAutoFit/>
          </a:bodyPr>
          <a:lstStyle/>
          <a:p>
            <a:pPr algn="l" marL="0" indent="0" lvl="0">
              <a:lnSpc>
                <a:spcPts val="2911"/>
              </a:lnSpc>
              <a:spcBef>
                <a:spcPct val="0"/>
              </a:spcBef>
            </a:pPr>
            <a:r>
              <a:rPr lang="en-US" sz="2079">
                <a:solidFill>
                  <a:srgbClr val="6B7280"/>
                </a:solidFill>
                <a:latin typeface="Inter"/>
                <a:ea typeface="Inter"/>
                <a:cs typeface="Inter"/>
                <a:sym typeface="Inter"/>
              </a:rPr>
              <a:t>Deploy models on edge devices for live activity monitoring.</a:t>
            </a:r>
          </a:p>
        </p:txBody>
      </p:sp>
      <p:sp>
        <p:nvSpPr>
          <p:cNvPr name="TextBox 17" id="17"/>
          <p:cNvSpPr txBox="true"/>
          <p:nvPr/>
        </p:nvSpPr>
        <p:spPr>
          <a:xfrm rot="0">
            <a:off x="12376936" y="4339416"/>
            <a:ext cx="4147352" cy="709181"/>
          </a:xfrm>
          <a:prstGeom prst="rect">
            <a:avLst/>
          </a:prstGeom>
        </p:spPr>
        <p:txBody>
          <a:bodyPr anchor="t" rtlCol="false" tIns="0" lIns="0" bIns="0" rIns="0">
            <a:spAutoFit/>
          </a:bodyPr>
          <a:lstStyle/>
          <a:p>
            <a:pPr algn="l" marL="0" indent="0" lvl="0">
              <a:lnSpc>
                <a:spcPts val="2911"/>
              </a:lnSpc>
              <a:spcBef>
                <a:spcPct val="0"/>
              </a:spcBef>
            </a:pPr>
            <a:r>
              <a:rPr lang="en-US" sz="2079">
                <a:solidFill>
                  <a:srgbClr val="6B7280"/>
                </a:solidFill>
                <a:latin typeface="Inter"/>
                <a:ea typeface="Inter"/>
                <a:cs typeface="Inter"/>
                <a:sym typeface="Inter"/>
              </a:rPr>
              <a:t>Integrate HAR into rehabilitation and elderly care systems.</a:t>
            </a:r>
          </a:p>
        </p:txBody>
      </p:sp>
      <p:sp>
        <p:nvSpPr>
          <p:cNvPr name="TextBox 18" id="18"/>
          <p:cNvSpPr txBox="true"/>
          <p:nvPr/>
        </p:nvSpPr>
        <p:spPr>
          <a:xfrm rot="0">
            <a:off x="12376936" y="6111066"/>
            <a:ext cx="4147352" cy="709181"/>
          </a:xfrm>
          <a:prstGeom prst="rect">
            <a:avLst/>
          </a:prstGeom>
        </p:spPr>
        <p:txBody>
          <a:bodyPr anchor="t" rtlCol="false" tIns="0" lIns="0" bIns="0" rIns="0">
            <a:spAutoFit/>
          </a:bodyPr>
          <a:lstStyle/>
          <a:p>
            <a:pPr algn="l" marL="0" indent="0" lvl="0">
              <a:lnSpc>
                <a:spcPts val="2911"/>
              </a:lnSpc>
              <a:spcBef>
                <a:spcPct val="0"/>
              </a:spcBef>
            </a:pPr>
            <a:r>
              <a:rPr lang="en-US" sz="2079">
                <a:solidFill>
                  <a:srgbClr val="6B7280"/>
                </a:solidFill>
                <a:latin typeface="Inter"/>
                <a:ea typeface="Inter"/>
                <a:cs typeface="Inter"/>
                <a:sym typeface="Inter"/>
              </a:rPr>
              <a:t>Combine multiple sensor modalities for improved accuracy.</a:t>
            </a:r>
          </a:p>
        </p:txBody>
      </p:sp>
      <p:sp>
        <p:nvSpPr>
          <p:cNvPr name="TextBox 19" id="19"/>
          <p:cNvSpPr txBox="true"/>
          <p:nvPr/>
        </p:nvSpPr>
        <p:spPr>
          <a:xfrm rot="0">
            <a:off x="12376936" y="7882716"/>
            <a:ext cx="4147352" cy="709181"/>
          </a:xfrm>
          <a:prstGeom prst="rect">
            <a:avLst/>
          </a:prstGeom>
        </p:spPr>
        <p:txBody>
          <a:bodyPr anchor="t" rtlCol="false" tIns="0" lIns="0" bIns="0" rIns="0">
            <a:spAutoFit/>
          </a:bodyPr>
          <a:lstStyle/>
          <a:p>
            <a:pPr algn="l" marL="0" indent="0" lvl="0">
              <a:lnSpc>
                <a:spcPts val="2911"/>
              </a:lnSpc>
              <a:spcBef>
                <a:spcPct val="0"/>
              </a:spcBef>
            </a:pPr>
            <a:r>
              <a:rPr lang="en-US" sz="2079">
                <a:solidFill>
                  <a:srgbClr val="6B7280"/>
                </a:solidFill>
                <a:latin typeface="Inter"/>
                <a:ea typeface="Inter"/>
                <a:cs typeface="Inter"/>
                <a:sym typeface="Inter"/>
              </a:rPr>
              <a:t>Explore HEG integration and cognitive-motor pattern analysis.</a:t>
            </a:r>
          </a:p>
        </p:txBody>
      </p:sp>
      <p:sp>
        <p:nvSpPr>
          <p:cNvPr name="Freeform 20" id="20"/>
          <p:cNvSpPr/>
          <p:nvPr/>
        </p:nvSpPr>
        <p:spPr>
          <a:xfrm flipH="false" flipV="false" rot="0">
            <a:off x="4637923" y="5413065"/>
            <a:ext cx="3737537" cy="3055437"/>
          </a:xfrm>
          <a:custGeom>
            <a:avLst/>
            <a:gdLst/>
            <a:ahLst/>
            <a:cxnLst/>
            <a:rect r="r" b="b" t="t" l="l"/>
            <a:pathLst>
              <a:path h="3055437" w="3737537">
                <a:moveTo>
                  <a:pt x="0" y="0"/>
                </a:moveTo>
                <a:lnTo>
                  <a:pt x="3737537" y="0"/>
                </a:lnTo>
                <a:lnTo>
                  <a:pt x="3737537" y="3055436"/>
                </a:lnTo>
                <a:lnTo>
                  <a:pt x="0" y="3055436"/>
                </a:lnTo>
                <a:lnTo>
                  <a:pt x="0" y="0"/>
                </a:lnTo>
                <a:close/>
              </a:path>
            </a:pathLst>
          </a:custGeom>
          <a:blipFill>
            <a:blip r:embed="rId7"/>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grpSp>
        <p:nvGrpSpPr>
          <p:cNvPr name="Group 2" id="2"/>
          <p:cNvGrpSpPr/>
          <p:nvPr/>
        </p:nvGrpSpPr>
        <p:grpSpPr>
          <a:xfrm rot="0">
            <a:off x="7458603" y="6178452"/>
            <a:ext cx="8950467" cy="3079848"/>
            <a:chOff x="0" y="0"/>
            <a:chExt cx="2357325" cy="811153"/>
          </a:xfrm>
        </p:grpSpPr>
        <p:sp>
          <p:nvSpPr>
            <p:cNvPr name="Freeform 3" id="3"/>
            <p:cNvSpPr/>
            <p:nvPr/>
          </p:nvSpPr>
          <p:spPr>
            <a:xfrm flipH="false" flipV="false" rot="0">
              <a:off x="0" y="0"/>
              <a:ext cx="2357325" cy="811153"/>
            </a:xfrm>
            <a:custGeom>
              <a:avLst/>
              <a:gdLst/>
              <a:ahLst/>
              <a:cxnLst/>
              <a:rect r="r" b="b" t="t" l="l"/>
              <a:pathLst>
                <a:path h="811153" w="2357325">
                  <a:moveTo>
                    <a:pt x="31139" y="0"/>
                  </a:moveTo>
                  <a:lnTo>
                    <a:pt x="2326186" y="0"/>
                  </a:lnTo>
                  <a:cubicBezTo>
                    <a:pt x="2334444" y="0"/>
                    <a:pt x="2342365" y="3281"/>
                    <a:pt x="2348204" y="9120"/>
                  </a:cubicBezTo>
                  <a:cubicBezTo>
                    <a:pt x="2354044" y="14960"/>
                    <a:pt x="2357325" y="22880"/>
                    <a:pt x="2357325" y="31139"/>
                  </a:cubicBezTo>
                  <a:lnTo>
                    <a:pt x="2357325" y="780014"/>
                  </a:lnTo>
                  <a:cubicBezTo>
                    <a:pt x="2357325" y="788273"/>
                    <a:pt x="2354044" y="796193"/>
                    <a:pt x="2348204" y="802033"/>
                  </a:cubicBezTo>
                  <a:cubicBezTo>
                    <a:pt x="2342365" y="807873"/>
                    <a:pt x="2334444" y="811153"/>
                    <a:pt x="2326186" y="811153"/>
                  </a:cubicBezTo>
                  <a:lnTo>
                    <a:pt x="31139" y="811153"/>
                  </a:lnTo>
                  <a:cubicBezTo>
                    <a:pt x="22880" y="811153"/>
                    <a:pt x="14960" y="807873"/>
                    <a:pt x="9120" y="802033"/>
                  </a:cubicBezTo>
                  <a:cubicBezTo>
                    <a:pt x="3281" y="796193"/>
                    <a:pt x="0" y="788273"/>
                    <a:pt x="0" y="780014"/>
                  </a:cubicBezTo>
                  <a:lnTo>
                    <a:pt x="0" y="31139"/>
                  </a:lnTo>
                  <a:cubicBezTo>
                    <a:pt x="0" y="22880"/>
                    <a:pt x="3281" y="14960"/>
                    <a:pt x="9120" y="9120"/>
                  </a:cubicBezTo>
                  <a:cubicBezTo>
                    <a:pt x="14960" y="3281"/>
                    <a:pt x="22880" y="0"/>
                    <a:pt x="31139" y="0"/>
                  </a:cubicBezTo>
                  <a:close/>
                </a:path>
              </a:pathLst>
            </a:custGeom>
            <a:solidFill>
              <a:srgbClr val="D1FAE5"/>
            </a:solidFill>
          </p:spPr>
        </p:sp>
        <p:sp>
          <p:nvSpPr>
            <p:cNvPr name="TextBox 4" id="4"/>
            <p:cNvSpPr txBox="true"/>
            <p:nvPr/>
          </p:nvSpPr>
          <p:spPr>
            <a:xfrm>
              <a:off x="0" y="-38100"/>
              <a:ext cx="2357325" cy="849253"/>
            </a:xfrm>
            <a:prstGeom prst="rect">
              <a:avLst/>
            </a:prstGeom>
          </p:spPr>
          <p:txBody>
            <a:bodyPr anchor="ctr" rtlCol="false" tIns="50800" lIns="50800" bIns="50800" rIns="50800"/>
            <a:lstStyle/>
            <a:p>
              <a:pPr algn="ctr" marL="0" indent="0" lvl="0">
                <a:lnSpc>
                  <a:spcPts val="3499"/>
                </a:lnSpc>
              </a:pPr>
            </a:p>
          </p:txBody>
        </p:sp>
      </p:grpSp>
      <p:sp>
        <p:nvSpPr>
          <p:cNvPr name="Freeform 5" id="5"/>
          <p:cNvSpPr/>
          <p:nvPr/>
        </p:nvSpPr>
        <p:spPr>
          <a:xfrm flipH="false" flipV="false" rot="0">
            <a:off x="395805" y="314442"/>
            <a:ext cx="2087768" cy="2057400"/>
          </a:xfrm>
          <a:custGeom>
            <a:avLst/>
            <a:gdLst/>
            <a:ahLst/>
            <a:cxnLst/>
            <a:rect r="r" b="b" t="t" l="l"/>
            <a:pathLst>
              <a:path h="2057400" w="2087768">
                <a:moveTo>
                  <a:pt x="0" y="0"/>
                </a:moveTo>
                <a:lnTo>
                  <a:pt x="2087767" y="0"/>
                </a:lnTo>
                <a:lnTo>
                  <a:pt x="2087767" y="2057400"/>
                </a:lnTo>
                <a:lnTo>
                  <a:pt x="0" y="20574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715548" y="4793582"/>
            <a:ext cx="6556484" cy="4933754"/>
          </a:xfrm>
          <a:custGeom>
            <a:avLst/>
            <a:gdLst/>
            <a:ahLst/>
            <a:cxnLst/>
            <a:rect r="r" b="b" t="t" l="l"/>
            <a:pathLst>
              <a:path h="4933754" w="6556484">
                <a:moveTo>
                  <a:pt x="0" y="0"/>
                </a:moveTo>
                <a:lnTo>
                  <a:pt x="6556484" y="0"/>
                </a:lnTo>
                <a:lnTo>
                  <a:pt x="6556484" y="4933755"/>
                </a:lnTo>
                <a:lnTo>
                  <a:pt x="0" y="4933755"/>
                </a:lnTo>
                <a:lnTo>
                  <a:pt x="0" y="0"/>
                </a:lnTo>
                <a:close/>
              </a:path>
            </a:pathLst>
          </a:custGeom>
          <a:blipFill>
            <a:blip r:embed="rId4"/>
            <a:stretch>
              <a:fillRect l="0" t="0" r="0" b="0"/>
            </a:stretch>
          </a:blipFill>
        </p:spPr>
      </p:sp>
      <p:sp>
        <p:nvSpPr>
          <p:cNvPr name="TextBox 7" id="7"/>
          <p:cNvSpPr txBox="true"/>
          <p:nvPr/>
        </p:nvSpPr>
        <p:spPr>
          <a:xfrm rot="0">
            <a:off x="7458603" y="847725"/>
            <a:ext cx="9238080" cy="1698805"/>
          </a:xfrm>
          <a:prstGeom prst="rect">
            <a:avLst/>
          </a:prstGeom>
        </p:spPr>
        <p:txBody>
          <a:bodyPr anchor="t" rtlCol="false" tIns="0" lIns="0" bIns="0" rIns="0">
            <a:spAutoFit/>
          </a:bodyPr>
          <a:lstStyle/>
          <a:p>
            <a:pPr algn="l" marL="0" indent="0" lvl="0">
              <a:lnSpc>
                <a:spcPts val="13990"/>
              </a:lnSpc>
            </a:pPr>
            <a:r>
              <a:rPr lang="en-US" b="true" sz="9992">
                <a:solidFill>
                  <a:srgbClr val="1F1F1F"/>
                </a:solidFill>
                <a:latin typeface="Montserrat Bold"/>
                <a:ea typeface="Montserrat Bold"/>
                <a:cs typeface="Montserrat Bold"/>
                <a:sym typeface="Montserrat Bold"/>
              </a:rPr>
              <a:t>Conclusion</a:t>
            </a:r>
          </a:p>
        </p:txBody>
      </p:sp>
      <p:sp>
        <p:nvSpPr>
          <p:cNvPr name="TextBox 8" id="8"/>
          <p:cNvSpPr txBox="true"/>
          <p:nvPr/>
        </p:nvSpPr>
        <p:spPr>
          <a:xfrm rot="0">
            <a:off x="8254112" y="6616651"/>
            <a:ext cx="7359449" cy="2102158"/>
          </a:xfrm>
          <a:prstGeom prst="rect">
            <a:avLst/>
          </a:prstGeom>
        </p:spPr>
        <p:txBody>
          <a:bodyPr anchor="t" rtlCol="false" tIns="0" lIns="0" bIns="0" rIns="0">
            <a:spAutoFit/>
          </a:bodyPr>
          <a:lstStyle/>
          <a:p>
            <a:pPr algn="l" marL="0" indent="0" lvl="0">
              <a:lnSpc>
                <a:spcPts val="2783"/>
              </a:lnSpc>
              <a:spcBef>
                <a:spcPct val="0"/>
              </a:spcBef>
            </a:pPr>
            <a:r>
              <a:rPr lang="en-US" sz="1987">
                <a:solidFill>
                  <a:srgbClr val="6B7280"/>
                </a:solidFill>
                <a:latin typeface="Inter"/>
                <a:ea typeface="Inter"/>
                <a:cs typeface="Inter"/>
                <a:sym typeface="Inter"/>
              </a:rPr>
              <a:t>Deep learning effectively recognizes human activities from wearable sensor data. The LSTM model demonstrates more stable temporal behavior compared to CNN-LSTM, making it reliable for sequential pattern recognition. HAR technology shows strong potential for wearable healthcare AI applications, from rehabilitation monitoring to elderly care systems.</a:t>
            </a:r>
          </a:p>
        </p:txBody>
      </p:sp>
      <p:sp>
        <p:nvSpPr>
          <p:cNvPr name="Freeform 9" id="9"/>
          <p:cNvSpPr/>
          <p:nvPr/>
        </p:nvSpPr>
        <p:spPr>
          <a:xfrm flipH="true" flipV="false" rot="0">
            <a:off x="6946868" y="3853594"/>
            <a:ext cx="1307243" cy="1307243"/>
          </a:xfrm>
          <a:custGeom>
            <a:avLst/>
            <a:gdLst/>
            <a:ahLst/>
            <a:cxnLst/>
            <a:rect r="r" b="b" t="t" l="l"/>
            <a:pathLst>
              <a:path h="1307243" w="1307243">
                <a:moveTo>
                  <a:pt x="1307244" y="0"/>
                </a:moveTo>
                <a:lnTo>
                  <a:pt x="0" y="0"/>
                </a:lnTo>
                <a:lnTo>
                  <a:pt x="0" y="1307243"/>
                </a:lnTo>
                <a:lnTo>
                  <a:pt x="1307244" y="1307243"/>
                </a:lnTo>
                <a:lnTo>
                  <a:pt x="1307244"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7295867" y="4249671"/>
            <a:ext cx="609246" cy="515090"/>
          </a:xfrm>
          <a:custGeom>
            <a:avLst/>
            <a:gdLst/>
            <a:ahLst/>
            <a:cxnLst/>
            <a:rect r="r" b="b" t="t" l="l"/>
            <a:pathLst>
              <a:path h="515090" w="609246">
                <a:moveTo>
                  <a:pt x="0" y="0"/>
                </a:moveTo>
                <a:lnTo>
                  <a:pt x="609246" y="0"/>
                </a:lnTo>
                <a:lnTo>
                  <a:pt x="609246" y="515089"/>
                </a:lnTo>
                <a:lnTo>
                  <a:pt x="0" y="51508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4F6"/>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7073" cy="557133"/>
          </a:xfrm>
          <a:custGeom>
            <a:avLst/>
            <a:gdLst/>
            <a:ahLst/>
            <a:cxnLst/>
            <a:rect r="r" b="b" t="t" l="l"/>
            <a:pathLst>
              <a:path h="557133" w="597073">
                <a:moveTo>
                  <a:pt x="0" y="0"/>
                </a:moveTo>
                <a:lnTo>
                  <a:pt x="597073" y="0"/>
                </a:lnTo>
                <a:lnTo>
                  <a:pt x="597073" y="557133"/>
                </a:lnTo>
                <a:lnTo>
                  <a:pt x="0" y="557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905007" y="1028700"/>
            <a:ext cx="3776383" cy="3055437"/>
          </a:xfrm>
          <a:custGeom>
            <a:avLst/>
            <a:gdLst/>
            <a:ahLst/>
            <a:cxnLst/>
            <a:rect r="r" b="b" t="t" l="l"/>
            <a:pathLst>
              <a:path h="3055437" w="3776383">
                <a:moveTo>
                  <a:pt x="0" y="0"/>
                </a:moveTo>
                <a:lnTo>
                  <a:pt x="3776383" y="0"/>
                </a:lnTo>
                <a:lnTo>
                  <a:pt x="3776383" y="3055437"/>
                </a:lnTo>
                <a:lnTo>
                  <a:pt x="0" y="305543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529968" y="2653112"/>
            <a:ext cx="6517296" cy="5523409"/>
          </a:xfrm>
          <a:custGeom>
            <a:avLst/>
            <a:gdLst/>
            <a:ahLst/>
            <a:cxnLst/>
            <a:rect r="r" b="b" t="t" l="l"/>
            <a:pathLst>
              <a:path h="5523409" w="6517296">
                <a:moveTo>
                  <a:pt x="0" y="0"/>
                </a:moveTo>
                <a:lnTo>
                  <a:pt x="6517296" y="0"/>
                </a:lnTo>
                <a:lnTo>
                  <a:pt x="6517296" y="5523408"/>
                </a:lnTo>
                <a:lnTo>
                  <a:pt x="0" y="5523408"/>
                </a:lnTo>
                <a:lnTo>
                  <a:pt x="0" y="0"/>
                </a:lnTo>
                <a:close/>
              </a:path>
            </a:pathLst>
          </a:custGeom>
          <a:blipFill>
            <a:blip r:embed="rId6"/>
            <a:stretch>
              <a:fillRect l="0" t="0" r="0" b="0"/>
            </a:stretch>
          </a:blipFill>
        </p:spPr>
      </p:sp>
      <p:sp>
        <p:nvSpPr>
          <p:cNvPr name="TextBox 5" id="5"/>
          <p:cNvSpPr txBox="true"/>
          <p:nvPr/>
        </p:nvSpPr>
        <p:spPr>
          <a:xfrm rot="0">
            <a:off x="1028700" y="2805793"/>
            <a:ext cx="8312264" cy="2222733"/>
          </a:xfrm>
          <a:prstGeom prst="rect">
            <a:avLst/>
          </a:prstGeom>
        </p:spPr>
        <p:txBody>
          <a:bodyPr anchor="t" rtlCol="false" tIns="0" lIns="0" bIns="0" rIns="0">
            <a:spAutoFit/>
          </a:bodyPr>
          <a:lstStyle/>
          <a:p>
            <a:pPr algn="l" marL="0" indent="0" lvl="0">
              <a:lnSpc>
                <a:spcPts val="18187"/>
              </a:lnSpc>
            </a:pPr>
            <a:r>
              <a:rPr lang="en-US" b="true" sz="12990">
                <a:solidFill>
                  <a:srgbClr val="1F1F1F"/>
                </a:solidFill>
                <a:latin typeface="Montserrat Bold"/>
                <a:ea typeface="Montserrat Bold"/>
                <a:cs typeface="Montserrat Bold"/>
                <a:sym typeface="Montserrat Bold"/>
              </a:rPr>
              <a:t>Thank</a:t>
            </a:r>
          </a:p>
        </p:txBody>
      </p:sp>
      <p:sp>
        <p:nvSpPr>
          <p:cNvPr name="TextBox 6" id="6"/>
          <p:cNvSpPr txBox="true"/>
          <p:nvPr/>
        </p:nvSpPr>
        <p:spPr>
          <a:xfrm rot="0">
            <a:off x="1028700" y="4383458"/>
            <a:ext cx="9389750" cy="2222733"/>
          </a:xfrm>
          <a:prstGeom prst="rect">
            <a:avLst/>
          </a:prstGeom>
        </p:spPr>
        <p:txBody>
          <a:bodyPr anchor="t" rtlCol="false" tIns="0" lIns="0" bIns="0" rIns="0">
            <a:spAutoFit/>
          </a:bodyPr>
          <a:lstStyle/>
          <a:p>
            <a:pPr algn="l" marL="0" indent="0" lvl="0">
              <a:lnSpc>
                <a:spcPts val="18187"/>
              </a:lnSpc>
            </a:pPr>
            <a:r>
              <a:rPr lang="en-US" b="true" sz="12990">
                <a:solidFill>
                  <a:srgbClr val="10B981"/>
                </a:solidFill>
                <a:latin typeface="Montserrat Bold"/>
                <a:ea typeface="Montserrat Bold"/>
                <a:cs typeface="Montserrat Bold"/>
                <a:sym typeface="Montserrat Bold"/>
              </a:rPr>
              <a:t>You</a:t>
            </a:r>
          </a:p>
        </p:txBody>
      </p:sp>
      <p:sp>
        <p:nvSpPr>
          <p:cNvPr name="TextBox 7" id="7"/>
          <p:cNvSpPr txBox="true"/>
          <p:nvPr/>
        </p:nvSpPr>
        <p:spPr>
          <a:xfrm rot="0">
            <a:off x="1822537" y="1091366"/>
            <a:ext cx="3901038" cy="1289095"/>
          </a:xfrm>
          <a:prstGeom prst="rect">
            <a:avLst/>
          </a:prstGeom>
        </p:spPr>
        <p:txBody>
          <a:bodyPr anchor="t" rtlCol="false" tIns="0" lIns="0" bIns="0" rIns="0">
            <a:spAutoFit/>
          </a:bodyPr>
          <a:lstStyle/>
          <a:p>
            <a:pPr algn="l" marL="0" indent="0" lvl="0">
              <a:lnSpc>
                <a:spcPts val="3497"/>
              </a:lnSpc>
              <a:spcBef>
                <a:spcPct val="0"/>
              </a:spcBef>
            </a:pPr>
            <a:r>
              <a:rPr lang="en-US" sz="2498">
                <a:solidFill>
                  <a:srgbClr val="6B7280"/>
                </a:solidFill>
                <a:latin typeface="Inter"/>
                <a:ea typeface="Inter"/>
                <a:cs typeface="Inter"/>
                <a:sym typeface="Inter"/>
              </a:rPr>
              <a:t>Human Activity Recognition Using Deep Learning</a:t>
            </a:r>
          </a:p>
        </p:txBody>
      </p:sp>
      <p:sp>
        <p:nvSpPr>
          <p:cNvPr name="TextBox 8" id="8"/>
          <p:cNvSpPr txBox="true"/>
          <p:nvPr/>
        </p:nvSpPr>
        <p:spPr>
          <a:xfrm rot="0">
            <a:off x="1028700" y="6820807"/>
            <a:ext cx="7359449" cy="412795"/>
          </a:xfrm>
          <a:prstGeom prst="rect">
            <a:avLst/>
          </a:prstGeom>
        </p:spPr>
        <p:txBody>
          <a:bodyPr anchor="t" rtlCol="false" tIns="0" lIns="0" bIns="0" rIns="0">
            <a:spAutoFit/>
          </a:bodyPr>
          <a:lstStyle/>
          <a:p>
            <a:pPr algn="l" marL="0" indent="0" lvl="0">
              <a:lnSpc>
                <a:spcPts val="3497"/>
              </a:lnSpc>
              <a:spcBef>
                <a:spcPct val="0"/>
              </a:spcBef>
            </a:pPr>
            <a:r>
              <a:rPr lang="en-US" sz="2498" i="true">
                <a:solidFill>
                  <a:srgbClr val="6B7280"/>
                </a:solidFill>
                <a:latin typeface="Inter Italics"/>
                <a:ea typeface="Inter Italics"/>
                <a:cs typeface="Inter Italics"/>
                <a:sym typeface="Inter Italics"/>
              </a:rPr>
              <a:t>Questions and discussion welcome</a:t>
            </a:r>
          </a:p>
        </p:txBody>
      </p:sp>
      <p:sp>
        <p:nvSpPr>
          <p:cNvPr name="TextBox 9" id="9"/>
          <p:cNvSpPr txBox="true"/>
          <p:nvPr/>
        </p:nvSpPr>
        <p:spPr>
          <a:xfrm rot="0">
            <a:off x="1822537" y="8738507"/>
            <a:ext cx="4423521" cy="397401"/>
          </a:xfrm>
          <a:prstGeom prst="rect">
            <a:avLst/>
          </a:prstGeom>
        </p:spPr>
        <p:txBody>
          <a:bodyPr anchor="t" rtlCol="false" tIns="0" lIns="0" bIns="0" rIns="0">
            <a:spAutoFit/>
          </a:bodyPr>
          <a:lstStyle/>
          <a:p>
            <a:pPr algn="l" marL="0" indent="0" lvl="0">
              <a:lnSpc>
                <a:spcPts val="3296"/>
              </a:lnSpc>
              <a:spcBef>
                <a:spcPct val="0"/>
              </a:spcBef>
            </a:pPr>
            <a:r>
              <a:rPr lang="en-US" b="true" sz="2354">
                <a:solidFill>
                  <a:srgbClr val="6B7280"/>
                </a:solidFill>
                <a:latin typeface="Inter Bold"/>
                <a:ea typeface="Inter Bold"/>
                <a:cs typeface="Inter Bold"/>
                <a:sym typeface="Inter Bold"/>
              </a:rPr>
              <a:t>Deep Learning for Wearable AI</a:t>
            </a:r>
          </a:p>
        </p:txBody>
      </p:sp>
      <p:sp>
        <p:nvSpPr>
          <p:cNvPr name="Freeform 10" id="10"/>
          <p:cNvSpPr/>
          <p:nvPr/>
        </p:nvSpPr>
        <p:spPr>
          <a:xfrm flipH="false" flipV="false" rot="0">
            <a:off x="1028700" y="8700407"/>
            <a:ext cx="609246" cy="515090"/>
          </a:xfrm>
          <a:custGeom>
            <a:avLst/>
            <a:gdLst/>
            <a:ahLst/>
            <a:cxnLst/>
            <a:rect r="r" b="b" t="t" l="l"/>
            <a:pathLst>
              <a:path h="515090" w="609246">
                <a:moveTo>
                  <a:pt x="0" y="0"/>
                </a:moveTo>
                <a:lnTo>
                  <a:pt x="609246" y="0"/>
                </a:lnTo>
                <a:lnTo>
                  <a:pt x="609246" y="515090"/>
                </a:lnTo>
                <a:lnTo>
                  <a:pt x="0" y="51509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DAHKgZnkiYU</dc:identifier>
  <dcterms:modified xsi:type="dcterms:W3CDTF">2011-08-01T06:04:30Z</dcterms:modified>
  <cp:revision>1</cp:revision>
  <dc:title>Human Activity Recognition: Deep Learning Overview</dc:title>
</cp:coreProperties>
</file>